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4630400" cy="8229600"/>
  <p:notesSz cx="8229600" cy="14630400"/>
  <p:embeddedFontLst>
    <p:embeddedFont>
      <p:font typeface="Roboto Mono Medium"/>
      <p:regular r:id="rId21"/>
    </p:embeddedFont>
    <p:embeddedFont>
      <p:font typeface="Roboto Mono Medium"/>
      <p:regular r:id="rId22"/>
    </p:embeddedFont>
    <p:embeddedFont>
      <p:font typeface="Roboto Mono Medium"/>
      <p:regular r:id="rId23"/>
    </p:embeddedFont>
    <p:embeddedFont>
      <p:font typeface="Roboto Mono Medium"/>
      <p:regular r:id="rId24"/>
    </p:embeddedFont>
    <p:embeddedFont>
      <p:font typeface="Roboto"/>
      <p:regular r:id="rId25"/>
    </p:embeddedFont>
    <p:embeddedFont>
      <p:font typeface="Roboto"/>
      <p:regular r:id="rId26"/>
    </p:embeddedFont>
    <p:embeddedFont>
      <p:font typeface="Roboto"/>
      <p:regular r:id="rId27"/>
    </p:embeddedFont>
    <p:embeddedFont>
      <p:font typeface="Roboto"/>
      <p:regular r:id="rId28"/>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font" Target="fonts/font1.fntdata"/><Relationship Id="rId22" Type="http://schemas.openxmlformats.org/officeDocument/2006/relationships/font" Target="fonts/font2.fntdata"/><Relationship Id="rId23" Type="http://schemas.openxmlformats.org/officeDocument/2006/relationships/font" Target="fonts/font3.fntdata"/><Relationship Id="rId24" Type="http://schemas.openxmlformats.org/officeDocument/2006/relationships/font" Target="fonts/font4.fntdata"/><Relationship Id="rId25" Type="http://schemas.openxmlformats.org/officeDocument/2006/relationships/font" Target="fonts/font5.fntdata"/><Relationship Id="rId26" Type="http://schemas.openxmlformats.org/officeDocument/2006/relationships/font" Target="fonts/font6.fntdata"/><Relationship Id="rId27" Type="http://schemas.openxmlformats.org/officeDocument/2006/relationships/font" Target="fonts/font7.fntdata"/><Relationship Id="rId28"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2-1.png"/><Relationship Id="rId3"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3-1.png"/><Relationship Id="rId3"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4-1.png"/><Relationship Id="rId3"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5-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10303"/>
          </a:solidFill>
          <a:ln/>
        </p:spPr>
      </p:sp>
      <p:sp>
        <p:nvSpPr>
          <p:cNvPr id="3" name="Shape 1"/>
          <p:cNvSpPr/>
          <p:nvPr/>
        </p:nvSpPr>
        <p:spPr>
          <a:xfrm>
            <a:off x="0" y="0"/>
            <a:ext cx="14630400" cy="8229600"/>
          </a:xfrm>
          <a:prstGeom prst="rect">
            <a:avLst/>
          </a:prstGeom>
          <a:solidFill>
            <a:srgbClr val="212121"/>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10303"/>
          </a:solidFill>
          <a:ln/>
        </p:spPr>
      </p:sp>
      <p:sp>
        <p:nvSpPr>
          <p:cNvPr id="3" name="Shape 1"/>
          <p:cNvSpPr/>
          <p:nvPr/>
        </p:nvSpPr>
        <p:spPr>
          <a:xfrm>
            <a:off x="0" y="0"/>
            <a:ext cx="14630400" cy="8229600"/>
          </a:xfrm>
          <a:prstGeom prst="rect">
            <a:avLst/>
          </a:prstGeom>
          <a:solidFill>
            <a:srgbClr val="212121"/>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10303"/>
          </a:solidFill>
          <a:ln/>
        </p:spPr>
      </p:sp>
      <p:sp>
        <p:nvSpPr>
          <p:cNvPr id="3" name="Shape 1"/>
          <p:cNvSpPr/>
          <p:nvPr/>
        </p:nvSpPr>
        <p:spPr>
          <a:xfrm>
            <a:off x="0" y="0"/>
            <a:ext cx="14630400" cy="8229600"/>
          </a:xfrm>
          <a:prstGeom prst="rect">
            <a:avLst/>
          </a:prstGeom>
          <a:solidFill>
            <a:srgbClr val="212121"/>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10303"/>
          </a:solidFill>
          <a:ln/>
        </p:spPr>
      </p:sp>
      <p:sp>
        <p:nvSpPr>
          <p:cNvPr id="3" name="Shape 1"/>
          <p:cNvSpPr/>
          <p:nvPr/>
        </p:nvSpPr>
        <p:spPr>
          <a:xfrm>
            <a:off x="0" y="0"/>
            <a:ext cx="14630400" cy="8229600"/>
          </a:xfrm>
          <a:prstGeom prst="rect">
            <a:avLst/>
          </a:prstGeom>
          <a:solidFill>
            <a:srgbClr val="212121"/>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10303"/>
          </a:solidFill>
          <a:ln/>
        </p:spPr>
      </p:sp>
      <p:sp>
        <p:nvSpPr>
          <p:cNvPr id="3" name="Shape 1"/>
          <p:cNvSpPr/>
          <p:nvPr/>
        </p:nvSpPr>
        <p:spPr>
          <a:xfrm>
            <a:off x="0" y="0"/>
            <a:ext cx="14630400" cy="8229600"/>
          </a:xfrm>
          <a:prstGeom prst="rect">
            <a:avLst/>
          </a:prstGeom>
          <a:solidFill>
            <a:srgbClr val="212121"/>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10303"/>
          </a:solidFill>
          <a:ln/>
        </p:spPr>
      </p:sp>
      <p:sp>
        <p:nvSpPr>
          <p:cNvPr id="3" name="Shape 1"/>
          <p:cNvSpPr/>
          <p:nvPr/>
        </p:nvSpPr>
        <p:spPr>
          <a:xfrm>
            <a:off x="0" y="0"/>
            <a:ext cx="14630400" cy="8229600"/>
          </a:xfrm>
          <a:prstGeom prst="rect">
            <a:avLst/>
          </a:prstGeom>
          <a:solidFill>
            <a:srgbClr val="212121"/>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10303"/>
          </a:solidFill>
          <a:ln/>
        </p:spPr>
      </p:sp>
      <p:sp>
        <p:nvSpPr>
          <p:cNvPr id="3" name="Shape 1"/>
          <p:cNvSpPr/>
          <p:nvPr/>
        </p:nvSpPr>
        <p:spPr>
          <a:xfrm>
            <a:off x="0" y="0"/>
            <a:ext cx="14630400" cy="8229600"/>
          </a:xfrm>
          <a:prstGeom prst="rect">
            <a:avLst/>
          </a:prstGeom>
          <a:solidFill>
            <a:srgbClr val="212121"/>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10303"/>
          </a:solidFill>
          <a:ln/>
        </p:spPr>
      </p:sp>
      <p:sp>
        <p:nvSpPr>
          <p:cNvPr id="3" name="Shape 1"/>
          <p:cNvSpPr/>
          <p:nvPr/>
        </p:nvSpPr>
        <p:spPr>
          <a:xfrm>
            <a:off x="0" y="0"/>
            <a:ext cx="14630400" cy="8229600"/>
          </a:xfrm>
          <a:prstGeom prst="rect">
            <a:avLst/>
          </a:prstGeom>
          <a:solidFill>
            <a:srgbClr val="212121"/>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10303"/>
          </a:solidFill>
          <a:ln/>
        </p:spPr>
      </p:sp>
      <p:sp>
        <p:nvSpPr>
          <p:cNvPr id="3" name="Shape 1"/>
          <p:cNvSpPr/>
          <p:nvPr/>
        </p:nvSpPr>
        <p:spPr>
          <a:xfrm>
            <a:off x="0" y="0"/>
            <a:ext cx="14630400" cy="8229600"/>
          </a:xfrm>
          <a:prstGeom prst="rect">
            <a:avLst/>
          </a:prstGeom>
          <a:solidFill>
            <a:srgbClr val="212121"/>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10303"/>
          </a:solidFill>
          <a:ln/>
        </p:spPr>
      </p:sp>
      <p:sp>
        <p:nvSpPr>
          <p:cNvPr id="3" name="Shape 1"/>
          <p:cNvSpPr/>
          <p:nvPr/>
        </p:nvSpPr>
        <p:spPr>
          <a:xfrm>
            <a:off x="0" y="0"/>
            <a:ext cx="14630400" cy="8229600"/>
          </a:xfrm>
          <a:prstGeom prst="rect">
            <a:avLst/>
          </a:prstGeom>
          <a:solidFill>
            <a:srgbClr val="212121"/>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10303"/>
          </a:solidFill>
          <a:ln/>
        </p:spPr>
      </p:sp>
      <p:sp>
        <p:nvSpPr>
          <p:cNvPr id="3" name="Shape 1"/>
          <p:cNvSpPr/>
          <p:nvPr/>
        </p:nvSpPr>
        <p:spPr>
          <a:xfrm>
            <a:off x="0" y="0"/>
            <a:ext cx="14630400" cy="8229600"/>
          </a:xfrm>
          <a:prstGeom prst="rect">
            <a:avLst/>
          </a:prstGeom>
          <a:solidFill>
            <a:srgbClr val="212121"/>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10303"/>
          </a:solidFill>
          <a:ln/>
        </p:spPr>
      </p:sp>
      <p:sp>
        <p:nvSpPr>
          <p:cNvPr id="3" name="Shape 1"/>
          <p:cNvSpPr/>
          <p:nvPr/>
        </p:nvSpPr>
        <p:spPr>
          <a:xfrm>
            <a:off x="0" y="0"/>
            <a:ext cx="14630400" cy="8229600"/>
          </a:xfrm>
          <a:prstGeom prst="rect">
            <a:avLst/>
          </a:prstGeom>
          <a:solidFill>
            <a:srgbClr val="212121"/>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10303"/>
          </a:solidFill>
          <a:ln/>
        </p:spPr>
      </p:sp>
      <p:sp>
        <p:nvSpPr>
          <p:cNvPr id="3" name="Shape 1"/>
          <p:cNvSpPr/>
          <p:nvPr/>
        </p:nvSpPr>
        <p:spPr>
          <a:xfrm>
            <a:off x="0" y="0"/>
            <a:ext cx="14630400" cy="8229600"/>
          </a:xfrm>
          <a:prstGeom prst="rect">
            <a:avLst/>
          </a:prstGeom>
          <a:solidFill>
            <a:srgbClr val="212121"/>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10303"/>
          </a:solidFill>
          <a:ln/>
        </p:spPr>
      </p:sp>
      <p:sp>
        <p:nvSpPr>
          <p:cNvPr id="3" name="Shape 1"/>
          <p:cNvSpPr/>
          <p:nvPr/>
        </p:nvSpPr>
        <p:spPr>
          <a:xfrm>
            <a:off x="0" y="0"/>
            <a:ext cx="14630400" cy="8229600"/>
          </a:xfrm>
          <a:prstGeom prst="rect">
            <a:avLst/>
          </a:prstGeom>
          <a:solidFill>
            <a:srgbClr val="212121"/>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5.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7.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8.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slideLayout" Target="../slideLayouts/slideLayout15.xml"/><Relationship Id="rId10"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3099792"/>
            <a:ext cx="5784175" cy="708779"/>
          </a:xfrm>
          <a:prstGeom prst="rect">
            <a:avLst/>
          </a:prstGeom>
          <a:noFill/>
          <a:ln/>
        </p:spPr>
        <p:txBody>
          <a:bodyPr wrap="none" lIns="0" tIns="0" rIns="0" bIns="0" rtlCol="0" anchor="t"/>
          <a:lstStyle/>
          <a:p>
            <a:pPr algn="l" indent="0" marL="0">
              <a:lnSpc>
                <a:spcPts val="5550"/>
              </a:lnSpc>
              <a:buNone/>
            </a:pPr>
            <a:r>
              <a:rPr lang="en-US" sz="4450" dirty="0">
                <a:solidFill>
                  <a:srgbClr val="FFFFFF"/>
                </a:solidFill>
                <a:latin typeface="Roboto Mono Medium" pitchFamily="34" charset="0"/>
                <a:ea typeface="Roboto Mono Medium" pitchFamily="34" charset="-122"/>
                <a:cs typeface="Roboto Mono Medium" pitchFamily="34" charset="-120"/>
              </a:rPr>
              <a:t>GPT-2 Fine-Tuning</a:t>
            </a:r>
            <a:endParaRPr lang="en-US" sz="4450" dirty="0"/>
          </a:p>
        </p:txBody>
      </p:sp>
      <p:sp>
        <p:nvSpPr>
          <p:cNvPr id="4" name="Text 1"/>
          <p:cNvSpPr/>
          <p:nvPr/>
        </p:nvSpPr>
        <p:spPr>
          <a:xfrm>
            <a:off x="6280190" y="4148733"/>
            <a:ext cx="7556421" cy="362903"/>
          </a:xfrm>
          <a:prstGeom prst="rect">
            <a:avLst/>
          </a:prstGeom>
          <a:noFill/>
          <a:ln/>
        </p:spPr>
        <p:txBody>
          <a:bodyPr wrap="none" lIns="0" tIns="0" rIns="0" bIns="0" rtlCol="0" anchor="t"/>
          <a:lstStyle/>
          <a:p>
            <a:pPr algn="r" indent="0" marL="0">
              <a:lnSpc>
                <a:spcPts val="2850"/>
              </a:lnSpc>
              <a:buNone/>
            </a:pPr>
            <a:endParaRPr lang="en-US" sz="1750" dirty="0"/>
          </a:p>
        </p:txBody>
      </p:sp>
      <p:sp>
        <p:nvSpPr>
          <p:cNvPr id="5" name="Text 2"/>
          <p:cNvSpPr/>
          <p:nvPr/>
        </p:nvSpPr>
        <p:spPr>
          <a:xfrm>
            <a:off x="6280190" y="4766786"/>
            <a:ext cx="7556421" cy="362903"/>
          </a:xfrm>
          <a:prstGeom prst="rect">
            <a:avLst/>
          </a:prstGeom>
          <a:noFill/>
          <a:ln/>
        </p:spPr>
        <p:txBody>
          <a:bodyPr wrap="none" lIns="0" tIns="0" rIns="0" bIns="0" rtlCol="0" anchor="t"/>
          <a:lstStyle/>
          <a:p>
            <a:pPr algn="r" indent="0" marL="0">
              <a:lnSpc>
                <a:spcPts val="2850"/>
              </a:lnSpc>
              <a:buNone/>
            </a:pPr>
            <a:r>
              <a:rPr lang="en-US" sz="1750" dirty="0">
                <a:solidFill>
                  <a:srgbClr val="E5E0DF"/>
                </a:solidFill>
                <a:latin typeface="Roboto" pitchFamily="34" charset="0"/>
                <a:ea typeface="Roboto" pitchFamily="34" charset="-122"/>
                <a:cs typeface="Roboto" pitchFamily="34" charset="-120"/>
              </a:rPr>
              <a:t> 발표자: 노성환, 이다희</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855464"/>
            <a:ext cx="9934575" cy="708779"/>
          </a:xfrm>
          <a:prstGeom prst="rect">
            <a:avLst/>
          </a:prstGeom>
          <a:noFill/>
          <a:ln/>
        </p:spPr>
        <p:txBody>
          <a:bodyPr wrap="none" lIns="0" tIns="0" rIns="0" bIns="0" rtlCol="0" anchor="t"/>
          <a:lstStyle/>
          <a:p>
            <a:pPr algn="l" indent="0" marL="0">
              <a:lnSpc>
                <a:spcPts val="5550"/>
              </a:lnSpc>
              <a:buNone/>
            </a:pPr>
            <a:r>
              <a:rPr lang="en-US" sz="4450" dirty="0">
                <a:solidFill>
                  <a:srgbClr val="FFFFFF"/>
                </a:solidFill>
                <a:latin typeface="Roboto Mono Medium" pitchFamily="34" charset="0"/>
                <a:ea typeface="Roboto Mono Medium" pitchFamily="34" charset="-122"/>
                <a:cs typeface="Roboto Mono Medium" pitchFamily="34" charset="-120"/>
              </a:rPr>
              <a:t>GPT-2 Fine-Tuning: 프로젝트 개요</a:t>
            </a:r>
            <a:endParaRPr lang="en-US" sz="4450" dirty="0"/>
          </a:p>
        </p:txBody>
      </p:sp>
      <p:sp>
        <p:nvSpPr>
          <p:cNvPr id="3" name="Shape 1"/>
          <p:cNvSpPr/>
          <p:nvPr/>
        </p:nvSpPr>
        <p:spPr>
          <a:xfrm>
            <a:off x="793790" y="1904405"/>
            <a:ext cx="510302" cy="510302"/>
          </a:xfrm>
          <a:prstGeom prst="roundRect">
            <a:avLst>
              <a:gd name="adj" fmla="val 6667"/>
            </a:avLst>
          </a:prstGeom>
          <a:solidFill>
            <a:srgbClr val="404040"/>
          </a:solidFill>
          <a:ln/>
        </p:spPr>
      </p:sp>
      <p:pic>
        <p:nvPicPr>
          <p:cNvPr id="4" name="Image 0" descr="preencoded.png">    </p:cNvPr>
          <p:cNvPicPr>
            <a:picLocks noChangeAspect="1"/>
          </p:cNvPicPr>
          <p:nvPr/>
        </p:nvPicPr>
        <p:blipFill>
          <a:blip r:embed="rId1"/>
          <a:stretch>
            <a:fillRect/>
          </a:stretch>
        </p:blipFill>
        <p:spPr>
          <a:xfrm>
            <a:off x="878860" y="1946910"/>
            <a:ext cx="340162" cy="425291"/>
          </a:xfrm>
          <a:prstGeom prst="rect">
            <a:avLst/>
          </a:prstGeom>
        </p:spPr>
      </p:pic>
      <p:sp>
        <p:nvSpPr>
          <p:cNvPr id="5" name="Text 2"/>
          <p:cNvSpPr/>
          <p:nvPr/>
        </p:nvSpPr>
        <p:spPr>
          <a:xfrm>
            <a:off x="1530906" y="1982272"/>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E5E0DF"/>
                </a:solidFill>
                <a:latin typeface="Roboto Mono Medium" pitchFamily="34" charset="0"/>
                <a:ea typeface="Roboto Mono Medium" pitchFamily="34" charset="-122"/>
                <a:cs typeface="Roboto Mono Medium" pitchFamily="34" charset="-120"/>
              </a:rPr>
              <a:t>프로젝트 소개</a:t>
            </a:r>
            <a:endParaRPr lang="en-US" sz="2200" dirty="0"/>
          </a:p>
        </p:txBody>
      </p:sp>
      <p:sp>
        <p:nvSpPr>
          <p:cNvPr id="6" name="Text 3"/>
          <p:cNvSpPr/>
          <p:nvPr/>
        </p:nvSpPr>
        <p:spPr>
          <a:xfrm>
            <a:off x="1530906" y="2472690"/>
            <a:ext cx="12305705" cy="362903"/>
          </a:xfrm>
          <a:prstGeom prst="rect">
            <a:avLst/>
          </a:prstGeom>
          <a:noFill/>
          <a:ln/>
        </p:spPr>
        <p:txBody>
          <a:bodyPr wrap="none" lIns="0" tIns="0" rIns="0" bIns="0" rtlCol="0" anchor="t"/>
          <a:lstStyle/>
          <a:p>
            <a:pPr algn="l" indent="0" marL="0">
              <a:lnSpc>
                <a:spcPts val="2850"/>
              </a:lnSpc>
              <a:buNone/>
            </a:pPr>
            <a:r>
              <a:rPr lang="en-US" sz="1750" dirty="0">
                <a:solidFill>
                  <a:srgbClr val="E5E0DF"/>
                </a:solidFill>
                <a:latin typeface="Roboto" pitchFamily="34" charset="0"/>
                <a:ea typeface="Roboto" pitchFamily="34" charset="-122"/>
                <a:cs typeface="Roboto" pitchFamily="34" charset="-120"/>
              </a:rPr>
              <a:t>GPT-2 모델을 특정 태스크에 최적화하기 위한 파인튜닝 프로젝트</a:t>
            </a:r>
            <a:endParaRPr lang="en-US" sz="1750" dirty="0"/>
          </a:p>
        </p:txBody>
      </p:sp>
      <p:sp>
        <p:nvSpPr>
          <p:cNvPr id="7" name="Shape 4"/>
          <p:cNvSpPr/>
          <p:nvPr/>
        </p:nvSpPr>
        <p:spPr>
          <a:xfrm>
            <a:off x="793790" y="3289221"/>
            <a:ext cx="510302" cy="510302"/>
          </a:xfrm>
          <a:prstGeom prst="roundRect">
            <a:avLst>
              <a:gd name="adj" fmla="val 6667"/>
            </a:avLst>
          </a:prstGeom>
          <a:solidFill>
            <a:srgbClr val="404040"/>
          </a:solidFill>
          <a:ln/>
        </p:spPr>
      </p:sp>
      <p:pic>
        <p:nvPicPr>
          <p:cNvPr id="8" name="Image 1" descr="preencoded.png">    </p:cNvPr>
          <p:cNvPicPr>
            <a:picLocks noChangeAspect="1"/>
          </p:cNvPicPr>
          <p:nvPr/>
        </p:nvPicPr>
        <p:blipFill>
          <a:blip r:embed="rId2"/>
          <a:stretch>
            <a:fillRect/>
          </a:stretch>
        </p:blipFill>
        <p:spPr>
          <a:xfrm>
            <a:off x="878860" y="3331726"/>
            <a:ext cx="340162" cy="425291"/>
          </a:xfrm>
          <a:prstGeom prst="rect">
            <a:avLst/>
          </a:prstGeom>
        </p:spPr>
      </p:pic>
      <p:sp>
        <p:nvSpPr>
          <p:cNvPr id="9" name="Text 5"/>
          <p:cNvSpPr/>
          <p:nvPr/>
        </p:nvSpPr>
        <p:spPr>
          <a:xfrm>
            <a:off x="1530906" y="3367088"/>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E5E0DF"/>
                </a:solidFill>
                <a:latin typeface="Roboto Mono Medium" pitchFamily="34" charset="0"/>
                <a:ea typeface="Roboto Mono Medium" pitchFamily="34" charset="-122"/>
                <a:cs typeface="Roboto Mono Medium" pitchFamily="34" charset="-120"/>
              </a:rPr>
              <a:t>사용된 핵심 기법</a:t>
            </a:r>
            <a:endParaRPr lang="en-US" sz="2200" dirty="0"/>
          </a:p>
        </p:txBody>
      </p:sp>
      <p:sp>
        <p:nvSpPr>
          <p:cNvPr id="10" name="Text 6"/>
          <p:cNvSpPr/>
          <p:nvPr/>
        </p:nvSpPr>
        <p:spPr>
          <a:xfrm>
            <a:off x="1530906" y="3857506"/>
            <a:ext cx="12305705" cy="362903"/>
          </a:xfrm>
          <a:prstGeom prst="rect">
            <a:avLst/>
          </a:prstGeom>
          <a:noFill/>
          <a:ln/>
        </p:spPr>
        <p:txBody>
          <a:bodyPr wrap="none" lIns="0" tIns="0" rIns="0" bIns="0" rtlCol="0" anchor="t"/>
          <a:lstStyle/>
          <a:p>
            <a:pPr algn="l" marL="342900" indent="-342900">
              <a:lnSpc>
                <a:spcPts val="2850"/>
              </a:lnSpc>
              <a:buSzPct val="100000"/>
              <a:buFont typeface="+mj-lt"/>
              <a:buAutoNum type="arabicPeriod" startAt="1"/>
            </a:pPr>
            <a:r>
              <a:rPr lang="en-US" sz="1750" dirty="0">
                <a:solidFill>
                  <a:srgbClr val="E5E0DF"/>
                </a:solidFill>
                <a:latin typeface="Roboto" pitchFamily="34" charset="0"/>
                <a:ea typeface="Roboto" pitchFamily="34" charset="-122"/>
                <a:cs typeface="Roboto" pitchFamily="34" charset="-120"/>
              </a:rPr>
              <a:t>Instruction Tuning</a:t>
            </a:r>
            <a:endParaRPr lang="en-US" sz="1750" dirty="0"/>
          </a:p>
        </p:txBody>
      </p:sp>
      <p:sp>
        <p:nvSpPr>
          <p:cNvPr id="11" name="Text 7"/>
          <p:cNvSpPr/>
          <p:nvPr/>
        </p:nvSpPr>
        <p:spPr>
          <a:xfrm>
            <a:off x="1530906" y="4299704"/>
            <a:ext cx="12305705" cy="362903"/>
          </a:xfrm>
          <a:prstGeom prst="rect">
            <a:avLst/>
          </a:prstGeom>
          <a:noFill/>
          <a:ln/>
        </p:spPr>
        <p:txBody>
          <a:bodyPr wrap="none" lIns="0" tIns="0" rIns="0" bIns="0" rtlCol="0" anchor="t"/>
          <a:lstStyle/>
          <a:p>
            <a:pPr algn="l" marL="342900" indent="-342900">
              <a:lnSpc>
                <a:spcPts val="2850"/>
              </a:lnSpc>
              <a:buSzPct val="100000"/>
              <a:buFont typeface="+mj-lt"/>
              <a:buAutoNum type="arabicPeriod" startAt="2"/>
            </a:pPr>
            <a:r>
              <a:rPr lang="en-US" sz="1750" dirty="0">
                <a:solidFill>
                  <a:srgbClr val="E5E0DF"/>
                </a:solidFill>
                <a:latin typeface="Roboto" pitchFamily="34" charset="0"/>
                <a:ea typeface="Roboto" pitchFamily="34" charset="-122"/>
                <a:cs typeface="Roboto" pitchFamily="34" charset="-120"/>
              </a:rPr>
              <a:t>Task-specific Head 추가 및 튜닝</a:t>
            </a:r>
            <a:endParaRPr lang="en-US" sz="1750" dirty="0"/>
          </a:p>
        </p:txBody>
      </p:sp>
      <p:sp>
        <p:nvSpPr>
          <p:cNvPr id="12" name="Text 8"/>
          <p:cNvSpPr/>
          <p:nvPr/>
        </p:nvSpPr>
        <p:spPr>
          <a:xfrm>
            <a:off x="1530906" y="4741902"/>
            <a:ext cx="12305705" cy="362903"/>
          </a:xfrm>
          <a:prstGeom prst="rect">
            <a:avLst/>
          </a:prstGeom>
          <a:noFill/>
          <a:ln/>
        </p:spPr>
        <p:txBody>
          <a:bodyPr wrap="none" lIns="0" tIns="0" rIns="0" bIns="0" rtlCol="0" anchor="t"/>
          <a:lstStyle/>
          <a:p>
            <a:pPr algn="l" marL="342900" indent="-342900">
              <a:lnSpc>
                <a:spcPts val="2850"/>
              </a:lnSpc>
              <a:buSzPct val="100000"/>
              <a:buFont typeface="+mj-lt"/>
              <a:buAutoNum type="arabicPeriod" startAt="3"/>
            </a:pPr>
            <a:r>
              <a:rPr lang="en-US" sz="1750" dirty="0">
                <a:solidFill>
                  <a:srgbClr val="E5E0DF"/>
                </a:solidFill>
                <a:latin typeface="Roboto" pitchFamily="34" charset="0"/>
                <a:ea typeface="Roboto" pitchFamily="34" charset="-122"/>
                <a:cs typeface="Roboto" pitchFamily="34" charset="-120"/>
              </a:rPr>
              <a:t>RoLA (Low-Rank Adaptation)</a:t>
            </a:r>
            <a:endParaRPr lang="en-US" sz="1750" dirty="0"/>
          </a:p>
        </p:txBody>
      </p:sp>
      <p:sp>
        <p:nvSpPr>
          <p:cNvPr id="13" name="Text 9"/>
          <p:cNvSpPr/>
          <p:nvPr/>
        </p:nvSpPr>
        <p:spPr>
          <a:xfrm>
            <a:off x="1530906" y="5184100"/>
            <a:ext cx="12305705" cy="362903"/>
          </a:xfrm>
          <a:prstGeom prst="rect">
            <a:avLst/>
          </a:prstGeom>
          <a:noFill/>
          <a:ln/>
        </p:spPr>
        <p:txBody>
          <a:bodyPr wrap="none" lIns="0" tIns="0" rIns="0" bIns="0" rtlCol="0" anchor="t"/>
          <a:lstStyle/>
          <a:p>
            <a:pPr algn="l" marL="342900" indent="-342900">
              <a:lnSpc>
                <a:spcPts val="2850"/>
              </a:lnSpc>
              <a:buSzPct val="100000"/>
              <a:buFont typeface="+mj-lt"/>
              <a:buAutoNum type="arabicPeriod" startAt="4"/>
            </a:pPr>
            <a:r>
              <a:rPr lang="en-US" sz="1750" dirty="0">
                <a:solidFill>
                  <a:srgbClr val="E5E0DF"/>
                </a:solidFill>
                <a:latin typeface="Roboto" pitchFamily="34" charset="0"/>
                <a:ea typeface="Roboto" pitchFamily="34" charset="-122"/>
                <a:cs typeface="Roboto" pitchFamily="34" charset="-120"/>
              </a:rPr>
              <a:t>Distillation (지식 증류)</a:t>
            </a:r>
            <a:endParaRPr lang="en-US" sz="1750" dirty="0"/>
          </a:p>
        </p:txBody>
      </p:sp>
      <p:sp>
        <p:nvSpPr>
          <p:cNvPr id="14" name="Shape 10"/>
          <p:cNvSpPr/>
          <p:nvPr/>
        </p:nvSpPr>
        <p:spPr>
          <a:xfrm>
            <a:off x="793790" y="6000631"/>
            <a:ext cx="510302" cy="510302"/>
          </a:xfrm>
          <a:prstGeom prst="roundRect">
            <a:avLst>
              <a:gd name="adj" fmla="val 6667"/>
            </a:avLst>
          </a:prstGeom>
          <a:solidFill>
            <a:srgbClr val="404040"/>
          </a:solidFill>
          <a:ln/>
        </p:spPr>
      </p:sp>
      <p:pic>
        <p:nvPicPr>
          <p:cNvPr id="15" name="Image 2" descr="preencoded.png">    </p:cNvPr>
          <p:cNvPicPr>
            <a:picLocks noChangeAspect="1"/>
          </p:cNvPicPr>
          <p:nvPr/>
        </p:nvPicPr>
        <p:blipFill>
          <a:blip r:embed="rId3"/>
          <a:stretch>
            <a:fillRect/>
          </a:stretch>
        </p:blipFill>
        <p:spPr>
          <a:xfrm>
            <a:off x="878860" y="6043136"/>
            <a:ext cx="340162" cy="425291"/>
          </a:xfrm>
          <a:prstGeom prst="rect">
            <a:avLst/>
          </a:prstGeom>
        </p:spPr>
      </p:pic>
      <p:sp>
        <p:nvSpPr>
          <p:cNvPr id="16" name="Text 11"/>
          <p:cNvSpPr/>
          <p:nvPr/>
        </p:nvSpPr>
        <p:spPr>
          <a:xfrm>
            <a:off x="1530906" y="6078498"/>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E5E0DF"/>
                </a:solidFill>
                <a:latin typeface="Roboto Mono Medium" pitchFamily="34" charset="0"/>
                <a:ea typeface="Roboto Mono Medium" pitchFamily="34" charset="-122"/>
                <a:cs typeface="Roboto Mono Medium" pitchFamily="34" charset="-120"/>
              </a:rPr>
              <a:t>주요 Task</a:t>
            </a:r>
            <a:endParaRPr lang="en-US" sz="2200" dirty="0"/>
          </a:p>
        </p:txBody>
      </p:sp>
      <p:sp>
        <p:nvSpPr>
          <p:cNvPr id="17" name="Text 12"/>
          <p:cNvSpPr/>
          <p:nvPr/>
        </p:nvSpPr>
        <p:spPr>
          <a:xfrm>
            <a:off x="1530906" y="6568916"/>
            <a:ext cx="12305705"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E5E0DF"/>
                </a:solidFill>
                <a:latin typeface="Roboto" pitchFamily="34" charset="0"/>
                <a:ea typeface="Roboto" pitchFamily="34" charset="-122"/>
                <a:cs typeface="Roboto" pitchFamily="34" charset="-120"/>
              </a:rPr>
              <a:t>Paraphrase Detection</a:t>
            </a:r>
            <a:endParaRPr lang="en-US" sz="1750" dirty="0"/>
          </a:p>
        </p:txBody>
      </p:sp>
      <p:sp>
        <p:nvSpPr>
          <p:cNvPr id="18" name="Text 13"/>
          <p:cNvSpPr/>
          <p:nvPr/>
        </p:nvSpPr>
        <p:spPr>
          <a:xfrm>
            <a:off x="1530906" y="7011114"/>
            <a:ext cx="12305705"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E5E0DF"/>
                </a:solidFill>
                <a:latin typeface="Roboto" pitchFamily="34" charset="0"/>
                <a:ea typeface="Roboto" pitchFamily="34" charset="-122"/>
                <a:cs typeface="Roboto" pitchFamily="34" charset="-120"/>
              </a:rPr>
              <a:t>Sonnet Generation</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0218" y="621983"/>
            <a:ext cx="6096119" cy="705564"/>
          </a:xfrm>
          <a:prstGeom prst="rect">
            <a:avLst/>
          </a:prstGeom>
          <a:noFill/>
          <a:ln/>
        </p:spPr>
        <p:txBody>
          <a:bodyPr wrap="none" lIns="0" tIns="0" rIns="0" bIns="0" rtlCol="0" anchor="t"/>
          <a:lstStyle/>
          <a:p>
            <a:pPr algn="l" indent="0" marL="0">
              <a:lnSpc>
                <a:spcPts val="5550"/>
              </a:lnSpc>
              <a:buNone/>
            </a:pPr>
            <a:r>
              <a:rPr lang="en-US" sz="4400" dirty="0">
                <a:solidFill>
                  <a:srgbClr val="FFFFFF"/>
                </a:solidFill>
                <a:latin typeface="Roboto Mono Medium" pitchFamily="34" charset="0"/>
                <a:ea typeface="Roboto Mono Medium" pitchFamily="34" charset="-122"/>
                <a:cs typeface="Roboto Mono Medium" pitchFamily="34" charset="-120"/>
              </a:rPr>
              <a:t>Instruction Tuning</a:t>
            </a:r>
            <a:endParaRPr lang="en-US" sz="4400" dirty="0"/>
          </a:p>
        </p:txBody>
      </p:sp>
      <p:pic>
        <p:nvPicPr>
          <p:cNvPr id="3" name="Image 0" descr="preencoded.png">    </p:cNvPr>
          <p:cNvPicPr>
            <a:picLocks noChangeAspect="1"/>
          </p:cNvPicPr>
          <p:nvPr/>
        </p:nvPicPr>
        <p:blipFill>
          <a:blip r:embed="rId1"/>
          <a:stretch>
            <a:fillRect/>
          </a:stretch>
        </p:blipFill>
        <p:spPr>
          <a:xfrm>
            <a:off x="790218" y="1666161"/>
            <a:ext cx="1128832" cy="1797129"/>
          </a:xfrm>
          <a:prstGeom prst="rect">
            <a:avLst/>
          </a:prstGeom>
        </p:spPr>
      </p:pic>
      <p:sp>
        <p:nvSpPr>
          <p:cNvPr id="4" name="Text 1"/>
          <p:cNvSpPr/>
          <p:nvPr/>
        </p:nvSpPr>
        <p:spPr>
          <a:xfrm>
            <a:off x="2144792" y="1891903"/>
            <a:ext cx="2822258" cy="352663"/>
          </a:xfrm>
          <a:prstGeom prst="rect">
            <a:avLst/>
          </a:prstGeom>
          <a:noFill/>
          <a:ln/>
        </p:spPr>
        <p:txBody>
          <a:bodyPr wrap="none" lIns="0" tIns="0" rIns="0" bIns="0" rtlCol="0" anchor="t"/>
          <a:lstStyle/>
          <a:p>
            <a:pPr algn="l" indent="0" marL="0">
              <a:lnSpc>
                <a:spcPts val="2750"/>
              </a:lnSpc>
              <a:buNone/>
            </a:pPr>
            <a:r>
              <a:rPr lang="en-US" sz="2200" dirty="0">
                <a:solidFill>
                  <a:srgbClr val="E5E0DF"/>
                </a:solidFill>
                <a:latin typeface="Roboto Mono Medium" pitchFamily="34" charset="0"/>
                <a:ea typeface="Roboto Mono Medium" pitchFamily="34" charset="-122"/>
                <a:cs typeface="Roboto Mono Medium" pitchFamily="34" charset="-120"/>
              </a:rPr>
              <a:t>개념</a:t>
            </a:r>
            <a:endParaRPr lang="en-US" sz="2200" dirty="0"/>
          </a:p>
        </p:txBody>
      </p:sp>
      <p:sp>
        <p:nvSpPr>
          <p:cNvPr id="5" name="Text 2"/>
          <p:cNvSpPr/>
          <p:nvPr/>
        </p:nvSpPr>
        <p:spPr>
          <a:xfrm>
            <a:off x="2144792" y="2379940"/>
            <a:ext cx="11695390" cy="361117"/>
          </a:xfrm>
          <a:prstGeom prst="rect">
            <a:avLst/>
          </a:prstGeom>
          <a:noFill/>
          <a:ln/>
        </p:spPr>
        <p:txBody>
          <a:bodyPr wrap="none" lIns="0" tIns="0" rIns="0" bIns="0" rtlCol="0" anchor="t"/>
          <a:lstStyle/>
          <a:p>
            <a:pPr algn="l" indent="0" marL="0">
              <a:lnSpc>
                <a:spcPts val="2800"/>
              </a:lnSpc>
              <a:buNone/>
            </a:pPr>
            <a:r>
              <a:rPr lang="en-US" sz="1750" dirty="0">
                <a:solidFill>
                  <a:srgbClr val="E5E0DF"/>
                </a:solidFill>
                <a:latin typeface="Roboto" pitchFamily="34" charset="0"/>
                <a:ea typeface="Roboto" pitchFamily="34" charset="-122"/>
                <a:cs typeface="Roboto" pitchFamily="34" charset="-120"/>
              </a:rPr>
              <a:t>언어 모델이 특정 작업을 명시적으로 이해하고 수행하도록, 지시문 형태의 프롬프트를 입력으로 제공하여 학습시키는 기법</a:t>
            </a:r>
            <a:endParaRPr lang="en-US" sz="1750" dirty="0"/>
          </a:p>
        </p:txBody>
      </p:sp>
      <p:sp>
        <p:nvSpPr>
          <p:cNvPr id="6" name="Text 3"/>
          <p:cNvSpPr/>
          <p:nvPr/>
        </p:nvSpPr>
        <p:spPr>
          <a:xfrm>
            <a:off x="2144792" y="2876431"/>
            <a:ext cx="11695390" cy="361117"/>
          </a:xfrm>
          <a:prstGeom prst="rect">
            <a:avLst/>
          </a:prstGeom>
          <a:noFill/>
          <a:ln/>
        </p:spPr>
        <p:txBody>
          <a:bodyPr wrap="none" lIns="0" tIns="0" rIns="0" bIns="0" rtlCol="0" anchor="t"/>
          <a:lstStyle/>
          <a:p>
            <a:pPr algn="l" indent="0" marL="0">
              <a:lnSpc>
                <a:spcPts val="2800"/>
              </a:lnSpc>
              <a:buNone/>
            </a:pPr>
            <a:r>
              <a:rPr lang="en-US" sz="1750" dirty="0">
                <a:solidFill>
                  <a:srgbClr val="E5E0DF"/>
                </a:solidFill>
                <a:latin typeface="Roboto" pitchFamily="34" charset="0"/>
                <a:ea typeface="Roboto" pitchFamily="34" charset="-122"/>
                <a:cs typeface="Roboto" pitchFamily="34" charset="-120"/>
              </a:rPr>
              <a:t>"지시문+입력"-출력 쌍을 제공하여 모델이 지시문에 조건적으로 반응하도록 유도</a:t>
            </a:r>
            <a:endParaRPr lang="en-US" sz="1750" dirty="0"/>
          </a:p>
        </p:txBody>
      </p:sp>
      <p:pic>
        <p:nvPicPr>
          <p:cNvPr id="7" name="Image 1" descr="preencoded.png">    </p:cNvPr>
          <p:cNvPicPr>
            <a:picLocks noChangeAspect="1"/>
          </p:cNvPicPr>
          <p:nvPr/>
        </p:nvPicPr>
        <p:blipFill>
          <a:blip r:embed="rId2"/>
          <a:stretch>
            <a:fillRect/>
          </a:stretch>
        </p:blipFill>
        <p:spPr>
          <a:xfrm>
            <a:off x="790218" y="3463290"/>
            <a:ext cx="1128832" cy="4144208"/>
          </a:xfrm>
          <a:prstGeom prst="rect">
            <a:avLst/>
          </a:prstGeom>
        </p:spPr>
      </p:pic>
      <p:sp>
        <p:nvSpPr>
          <p:cNvPr id="8" name="Text 4"/>
          <p:cNvSpPr/>
          <p:nvPr/>
        </p:nvSpPr>
        <p:spPr>
          <a:xfrm>
            <a:off x="2144792" y="3689032"/>
            <a:ext cx="2822258" cy="352663"/>
          </a:xfrm>
          <a:prstGeom prst="rect">
            <a:avLst/>
          </a:prstGeom>
          <a:noFill/>
          <a:ln/>
        </p:spPr>
        <p:txBody>
          <a:bodyPr wrap="none" lIns="0" tIns="0" rIns="0" bIns="0" rtlCol="0" anchor="t"/>
          <a:lstStyle/>
          <a:p>
            <a:pPr algn="l" indent="0" marL="0">
              <a:lnSpc>
                <a:spcPts val="2750"/>
              </a:lnSpc>
              <a:buNone/>
            </a:pPr>
            <a:r>
              <a:rPr lang="en-US" sz="2200" dirty="0">
                <a:solidFill>
                  <a:srgbClr val="E5E0DF"/>
                </a:solidFill>
                <a:latin typeface="Roboto Mono Medium" pitchFamily="34" charset="0"/>
                <a:ea typeface="Roboto Mono Medium" pitchFamily="34" charset="-122"/>
                <a:cs typeface="Roboto Mono Medium" pitchFamily="34" charset="-120"/>
              </a:rPr>
              <a:t>프롬프트의 효과</a:t>
            </a:r>
            <a:endParaRPr lang="en-US" sz="2200" dirty="0"/>
          </a:p>
        </p:txBody>
      </p:sp>
      <p:sp>
        <p:nvSpPr>
          <p:cNvPr id="9" name="Text 5"/>
          <p:cNvSpPr/>
          <p:nvPr/>
        </p:nvSpPr>
        <p:spPr>
          <a:xfrm>
            <a:off x="2144792" y="4177070"/>
            <a:ext cx="11695390" cy="361117"/>
          </a:xfrm>
          <a:prstGeom prst="rect">
            <a:avLst/>
          </a:prstGeom>
          <a:noFill/>
          <a:ln/>
        </p:spPr>
        <p:txBody>
          <a:bodyPr wrap="none" lIns="0" tIns="0" rIns="0" bIns="0" rtlCol="0" anchor="t"/>
          <a:lstStyle/>
          <a:p>
            <a:pPr algn="l" indent="0" marL="0">
              <a:lnSpc>
                <a:spcPts val="2800"/>
              </a:lnSpc>
              <a:buNone/>
            </a:pPr>
            <a:r>
              <a:rPr lang="en-US" sz="1750" dirty="0">
                <a:solidFill>
                  <a:srgbClr val="E5E0DF"/>
                </a:solidFill>
                <a:latin typeface="Roboto" pitchFamily="34" charset="0"/>
                <a:ea typeface="Roboto" pitchFamily="34" charset="-122"/>
                <a:cs typeface="Roboto" pitchFamily="34" charset="-120"/>
              </a:rPr>
              <a:t>단일 태스크에서도 지시문은 출력의 스타일, 구조, 운율 등을 명확히 유도하는 </a:t>
            </a:r>
            <a:pPr algn="l" indent="0" marL="0">
              <a:lnSpc>
                <a:spcPts val="2800"/>
              </a:lnSpc>
              <a:buNone/>
            </a:pPr>
            <a:r>
              <a:rPr lang="en-US" sz="1750" b="1" dirty="0">
                <a:solidFill>
                  <a:srgbClr val="E5E0DF"/>
                </a:solidFill>
                <a:latin typeface="Roboto" pitchFamily="34" charset="0"/>
                <a:ea typeface="Roboto" pitchFamily="34" charset="-122"/>
                <a:cs typeface="Roboto" pitchFamily="34" charset="-120"/>
              </a:rPr>
              <a:t>의미 신호(semantic signal)</a:t>
            </a:r>
            <a:pPr algn="l" indent="0" marL="0">
              <a:lnSpc>
                <a:spcPts val="2800"/>
              </a:lnSpc>
              <a:buNone/>
            </a:pPr>
            <a:r>
              <a:rPr lang="en-US" sz="1750" dirty="0">
                <a:solidFill>
                  <a:srgbClr val="E5E0DF"/>
                </a:solidFill>
                <a:latin typeface="Roboto" pitchFamily="34" charset="0"/>
                <a:ea typeface="Roboto" pitchFamily="34" charset="-122"/>
                <a:cs typeface="Roboto" pitchFamily="34" charset="-120"/>
              </a:rPr>
              <a:t>로 작용</a:t>
            </a:r>
            <a:endParaRPr lang="en-US" sz="1750" dirty="0"/>
          </a:p>
        </p:txBody>
      </p:sp>
      <p:sp>
        <p:nvSpPr>
          <p:cNvPr id="10" name="Text 6"/>
          <p:cNvSpPr/>
          <p:nvPr/>
        </p:nvSpPr>
        <p:spPr>
          <a:xfrm>
            <a:off x="2144792" y="4673560"/>
            <a:ext cx="11695390" cy="361117"/>
          </a:xfrm>
          <a:prstGeom prst="rect">
            <a:avLst/>
          </a:prstGeom>
          <a:noFill/>
          <a:ln/>
        </p:spPr>
        <p:txBody>
          <a:bodyPr wrap="none" lIns="0" tIns="0" rIns="0" bIns="0" rtlCol="0" anchor="t"/>
          <a:lstStyle/>
          <a:p>
            <a:pPr algn="l" indent="0" marL="0">
              <a:lnSpc>
                <a:spcPts val="2800"/>
              </a:lnSpc>
              <a:buNone/>
            </a:pPr>
            <a:r>
              <a:rPr lang="en-US" sz="1750" dirty="0">
                <a:solidFill>
                  <a:srgbClr val="E5E0DF"/>
                </a:solidFill>
                <a:latin typeface="Roboto" pitchFamily="34" charset="0"/>
                <a:ea typeface="Roboto" pitchFamily="34" charset="-122"/>
                <a:cs typeface="Roboto" pitchFamily="34" charset="-120"/>
              </a:rPr>
              <a:t>입력 초반의 프롬프트는 전체 어텐션 분포에 영향을 주어 일관성 있고 고품질의 생성 가능</a:t>
            </a:r>
            <a:endParaRPr lang="en-US" sz="1750" dirty="0"/>
          </a:p>
        </p:txBody>
      </p:sp>
      <p:sp>
        <p:nvSpPr>
          <p:cNvPr id="11" name="Text 7"/>
          <p:cNvSpPr/>
          <p:nvPr/>
        </p:nvSpPr>
        <p:spPr>
          <a:xfrm>
            <a:off x="2144792" y="5170051"/>
            <a:ext cx="11695390" cy="361117"/>
          </a:xfrm>
          <a:prstGeom prst="rect">
            <a:avLst/>
          </a:prstGeom>
          <a:noFill/>
          <a:ln/>
        </p:spPr>
        <p:txBody>
          <a:bodyPr wrap="none" lIns="0" tIns="0" rIns="0" bIns="0" rtlCol="0" anchor="t"/>
          <a:lstStyle/>
          <a:p>
            <a:pPr algn="l" indent="0" marL="0">
              <a:lnSpc>
                <a:spcPts val="2800"/>
              </a:lnSpc>
              <a:buNone/>
            </a:pPr>
            <a:r>
              <a:rPr lang="en-US" sz="1750" dirty="0">
                <a:solidFill>
                  <a:srgbClr val="E5E0DF"/>
                </a:solidFill>
                <a:latin typeface="Roboto" pitchFamily="34" charset="0"/>
                <a:ea typeface="Roboto" pitchFamily="34" charset="-122"/>
                <a:cs typeface="Roboto" pitchFamily="34" charset="-120"/>
              </a:rPr>
              <a:t>&lt;type=shakespearean&gt;과 같은 지시는 학습 안정성을 높이는 </a:t>
            </a:r>
            <a:pPr algn="l" indent="0" marL="0">
              <a:lnSpc>
                <a:spcPts val="2800"/>
              </a:lnSpc>
              <a:buNone/>
            </a:pPr>
            <a:r>
              <a:rPr lang="en-US" sz="1750" b="1" dirty="0">
                <a:solidFill>
                  <a:srgbClr val="E5E0DF"/>
                </a:solidFill>
                <a:latin typeface="Roboto" pitchFamily="34" charset="0"/>
                <a:ea typeface="Roboto" pitchFamily="34" charset="-122"/>
                <a:cs typeface="Roboto" pitchFamily="34" charset="-120"/>
              </a:rPr>
              <a:t>암묵적 라벨(implicit label)</a:t>
            </a:r>
            <a:pPr algn="l" indent="0" marL="0">
              <a:lnSpc>
                <a:spcPts val="2800"/>
              </a:lnSpc>
              <a:buNone/>
            </a:pPr>
            <a:r>
              <a:rPr lang="en-US" sz="1750" dirty="0">
                <a:solidFill>
                  <a:srgbClr val="E5E0DF"/>
                </a:solidFill>
                <a:latin typeface="Roboto" pitchFamily="34" charset="0"/>
                <a:ea typeface="Roboto" pitchFamily="34" charset="-122"/>
                <a:cs typeface="Roboto" pitchFamily="34" charset="-120"/>
              </a:rPr>
              <a:t>로 기능한다.</a:t>
            </a:r>
            <a:endParaRPr lang="en-US" sz="1750" dirty="0"/>
          </a:p>
        </p:txBody>
      </p:sp>
      <p:sp>
        <p:nvSpPr>
          <p:cNvPr id="12" name="Text 8"/>
          <p:cNvSpPr/>
          <p:nvPr/>
        </p:nvSpPr>
        <p:spPr>
          <a:xfrm>
            <a:off x="2144792" y="5666542"/>
            <a:ext cx="11695390" cy="361117"/>
          </a:xfrm>
          <a:prstGeom prst="rect">
            <a:avLst/>
          </a:prstGeom>
          <a:noFill/>
          <a:ln/>
        </p:spPr>
        <p:txBody>
          <a:bodyPr wrap="none" lIns="0" tIns="0" rIns="0" bIns="0" rtlCol="0" anchor="t"/>
          <a:lstStyle/>
          <a:p>
            <a:pPr algn="l" indent="0" marL="0">
              <a:lnSpc>
                <a:spcPts val="2800"/>
              </a:lnSpc>
              <a:buNone/>
            </a:pPr>
            <a:r>
              <a:rPr lang="en-US" sz="1750" dirty="0">
                <a:solidFill>
                  <a:srgbClr val="E5E0DF"/>
                </a:solidFill>
                <a:latin typeface="Roboto" pitchFamily="34" charset="0"/>
                <a:ea typeface="Roboto" pitchFamily="34" charset="-122"/>
                <a:cs typeface="Roboto" pitchFamily="34" charset="-120"/>
              </a:rPr>
              <a:t>적용 예시 (소네트 생성)</a:t>
            </a:r>
            <a:endParaRPr lang="en-US" sz="1750" dirty="0"/>
          </a:p>
        </p:txBody>
      </p:sp>
      <p:sp>
        <p:nvSpPr>
          <p:cNvPr id="13" name="Text 9"/>
          <p:cNvSpPr/>
          <p:nvPr/>
        </p:nvSpPr>
        <p:spPr>
          <a:xfrm>
            <a:off x="2144792" y="6163032"/>
            <a:ext cx="11695390" cy="722233"/>
          </a:xfrm>
          <a:prstGeom prst="rect">
            <a:avLst/>
          </a:prstGeom>
          <a:noFill/>
          <a:ln/>
        </p:spPr>
        <p:txBody>
          <a:bodyPr wrap="square" lIns="0" tIns="0" rIns="0" bIns="0" rtlCol="0" anchor="t"/>
          <a:lstStyle/>
          <a:p>
            <a:pPr algn="l" indent="0" marL="0">
              <a:lnSpc>
                <a:spcPts val="2800"/>
              </a:lnSpc>
              <a:buNone/>
            </a:pPr>
            <a:r>
              <a:rPr lang="en-US" sz="1750" dirty="0">
                <a:solidFill>
                  <a:srgbClr val="E5E0DF"/>
                </a:solidFill>
                <a:latin typeface="Roboto" pitchFamily="34" charset="0"/>
                <a:ea typeface="Roboto" pitchFamily="34" charset="-122"/>
                <a:cs typeface="Roboto" pitchFamily="34" charset="-120"/>
              </a:rPr>
              <a:t>&lt;task=Sonnet_Generation&gt;, &lt;type=shakespearean&gt;, &lt;meter=iambic_pentameter&gt;, &lt;rhyme=ababcdcdefefgg&gt;와 같은 구조화된 프롬프트를 사용했다.</a:t>
            </a:r>
            <a:endParaRPr lang="en-US" sz="1750" dirty="0"/>
          </a:p>
        </p:txBody>
      </p:sp>
      <p:sp>
        <p:nvSpPr>
          <p:cNvPr id="14" name="Text 10"/>
          <p:cNvSpPr/>
          <p:nvPr/>
        </p:nvSpPr>
        <p:spPr>
          <a:xfrm>
            <a:off x="2144792" y="7020639"/>
            <a:ext cx="11695390" cy="361117"/>
          </a:xfrm>
          <a:prstGeom prst="rect">
            <a:avLst/>
          </a:prstGeom>
          <a:noFill/>
          <a:ln/>
        </p:spPr>
        <p:txBody>
          <a:bodyPr wrap="none" lIns="0" tIns="0" rIns="0" bIns="0" rtlCol="0" anchor="t"/>
          <a:lstStyle/>
          <a:p>
            <a:pPr algn="l" indent="0" marL="0">
              <a:lnSpc>
                <a:spcPts val="2800"/>
              </a:lnSpc>
              <a:buNone/>
            </a:pPr>
            <a:r>
              <a:rPr lang="en-US" sz="1750" dirty="0">
                <a:solidFill>
                  <a:srgbClr val="E5E0DF"/>
                </a:solidFill>
                <a:latin typeface="Roboto" pitchFamily="34" charset="0"/>
                <a:ea typeface="Roboto" pitchFamily="34" charset="-122"/>
                <a:cs typeface="Roboto" pitchFamily="34" charset="-120"/>
              </a:rPr>
              <a:t>SonnetGPT의 forward 메서드에서 이 메타 프롬프트를 토크나이즈하고 모든 입력 시퀀스 앞에 붙여 모델에 전달했다.</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40531" y="346115"/>
            <a:ext cx="3397925" cy="393263"/>
          </a:xfrm>
          <a:prstGeom prst="rect">
            <a:avLst/>
          </a:prstGeom>
          <a:noFill/>
          <a:ln/>
        </p:spPr>
        <p:txBody>
          <a:bodyPr wrap="none" lIns="0" tIns="0" rIns="0" bIns="0" rtlCol="0" anchor="t"/>
          <a:lstStyle/>
          <a:p>
            <a:pPr algn="l" indent="0" marL="0">
              <a:lnSpc>
                <a:spcPts val="3050"/>
              </a:lnSpc>
              <a:buNone/>
            </a:pPr>
            <a:r>
              <a:rPr lang="en-US" sz="2450" dirty="0">
                <a:solidFill>
                  <a:srgbClr val="FFFFFF"/>
                </a:solidFill>
                <a:latin typeface="Roboto Mono Medium" pitchFamily="34" charset="0"/>
                <a:ea typeface="Roboto Mono Medium" pitchFamily="34" charset="-122"/>
                <a:cs typeface="Roboto Mono Medium" pitchFamily="34" charset="-120"/>
              </a:rPr>
              <a:t>Task-specific Head</a:t>
            </a:r>
            <a:endParaRPr lang="en-US" sz="2450" dirty="0"/>
          </a:p>
        </p:txBody>
      </p:sp>
      <p:pic>
        <p:nvPicPr>
          <p:cNvPr id="3" name="Image 0" descr="preencoded.png">    </p:cNvPr>
          <p:cNvPicPr>
            <a:picLocks noChangeAspect="1"/>
          </p:cNvPicPr>
          <p:nvPr/>
        </p:nvPicPr>
        <p:blipFill>
          <a:blip r:embed="rId1"/>
          <a:stretch>
            <a:fillRect/>
          </a:stretch>
        </p:blipFill>
        <p:spPr>
          <a:xfrm>
            <a:off x="2743438" y="991076"/>
            <a:ext cx="2268617" cy="725091"/>
          </a:xfrm>
          <a:prstGeom prst="rect">
            <a:avLst/>
          </a:prstGeom>
        </p:spPr>
      </p:pic>
      <p:pic>
        <p:nvPicPr>
          <p:cNvPr id="4" name="Image 1" descr="preencoded.png">    </p:cNvPr>
          <p:cNvPicPr>
            <a:picLocks noChangeAspect="1"/>
          </p:cNvPicPr>
          <p:nvPr/>
        </p:nvPicPr>
        <p:blipFill>
          <a:blip r:embed="rId2"/>
          <a:stretch>
            <a:fillRect/>
          </a:stretch>
        </p:blipFill>
        <p:spPr>
          <a:xfrm>
            <a:off x="3789164" y="1332905"/>
            <a:ext cx="176927" cy="221218"/>
          </a:xfrm>
          <a:prstGeom prst="rect">
            <a:avLst/>
          </a:prstGeom>
        </p:spPr>
      </p:pic>
      <p:sp>
        <p:nvSpPr>
          <p:cNvPr id="5" name="Text 1"/>
          <p:cNvSpPr/>
          <p:nvPr/>
        </p:nvSpPr>
        <p:spPr>
          <a:xfrm>
            <a:off x="5137904" y="1116925"/>
            <a:ext cx="1573292" cy="196572"/>
          </a:xfrm>
          <a:prstGeom prst="rect">
            <a:avLst/>
          </a:prstGeom>
          <a:noFill/>
          <a:ln/>
        </p:spPr>
        <p:txBody>
          <a:bodyPr wrap="none" lIns="0" tIns="0" rIns="0" bIns="0" rtlCol="0" anchor="t"/>
          <a:lstStyle/>
          <a:p>
            <a:pPr algn="l" indent="0" marL="0">
              <a:lnSpc>
                <a:spcPts val="1500"/>
              </a:lnSpc>
              <a:buNone/>
            </a:pPr>
            <a:r>
              <a:rPr lang="en-US" sz="1200" dirty="0">
                <a:solidFill>
                  <a:srgbClr val="E5E0DF"/>
                </a:solidFill>
                <a:latin typeface="Roboto Mono Medium" pitchFamily="34" charset="0"/>
                <a:ea typeface="Roboto Mono Medium" pitchFamily="34" charset="-122"/>
                <a:cs typeface="Roboto Mono Medium" pitchFamily="34" charset="-120"/>
              </a:rPr>
              <a:t>필요성</a:t>
            </a:r>
            <a:endParaRPr lang="en-US" sz="1200" dirty="0"/>
          </a:p>
        </p:txBody>
      </p:sp>
      <p:sp>
        <p:nvSpPr>
          <p:cNvPr id="6" name="Text 2"/>
          <p:cNvSpPr/>
          <p:nvPr/>
        </p:nvSpPr>
        <p:spPr>
          <a:xfrm>
            <a:off x="5137904" y="1388983"/>
            <a:ext cx="5303758" cy="201335"/>
          </a:xfrm>
          <a:prstGeom prst="rect">
            <a:avLst/>
          </a:prstGeom>
          <a:noFill/>
          <a:ln/>
        </p:spPr>
        <p:txBody>
          <a:bodyPr wrap="none" lIns="0" tIns="0" rIns="0" bIns="0" rtlCol="0" anchor="t"/>
          <a:lstStyle/>
          <a:p>
            <a:pPr algn="l" indent="0" marL="0">
              <a:lnSpc>
                <a:spcPts val="1550"/>
              </a:lnSpc>
              <a:buNone/>
            </a:pPr>
            <a:r>
              <a:rPr lang="en-US" sz="950" dirty="0">
                <a:solidFill>
                  <a:srgbClr val="E5E0DF"/>
                </a:solidFill>
                <a:latin typeface="Roboto" pitchFamily="34" charset="0"/>
                <a:ea typeface="Roboto" pitchFamily="34" charset="-122"/>
                <a:cs typeface="Roboto" pitchFamily="34" charset="-120"/>
              </a:rPr>
              <a:t>사전 학습된 GPT-2는 다음 단어를 예측하는 생성 모델로, 분류와 같은 특정 과제에 직접 사용하기 어려움</a:t>
            </a:r>
            <a:endParaRPr lang="en-US" sz="950" dirty="0"/>
          </a:p>
        </p:txBody>
      </p:sp>
      <p:sp>
        <p:nvSpPr>
          <p:cNvPr id="7" name="Shape 3"/>
          <p:cNvSpPr/>
          <p:nvPr/>
        </p:nvSpPr>
        <p:spPr>
          <a:xfrm>
            <a:off x="5043488" y="1728073"/>
            <a:ext cx="9114949" cy="7620"/>
          </a:xfrm>
          <a:prstGeom prst="roundRect">
            <a:avLst>
              <a:gd name="adj" fmla="val 247780"/>
            </a:avLst>
          </a:prstGeom>
          <a:solidFill>
            <a:srgbClr val="595959"/>
          </a:solidFill>
          <a:ln/>
        </p:spPr>
      </p:sp>
      <p:pic>
        <p:nvPicPr>
          <p:cNvPr id="8" name="Image 2" descr="preencoded.png">    </p:cNvPr>
          <p:cNvPicPr>
            <a:picLocks noChangeAspect="1"/>
          </p:cNvPicPr>
          <p:nvPr/>
        </p:nvPicPr>
        <p:blipFill>
          <a:blip r:embed="rId3"/>
          <a:stretch>
            <a:fillRect/>
          </a:stretch>
        </p:blipFill>
        <p:spPr>
          <a:xfrm>
            <a:off x="1609130" y="1747599"/>
            <a:ext cx="4537234" cy="725091"/>
          </a:xfrm>
          <a:prstGeom prst="rect">
            <a:avLst/>
          </a:prstGeom>
        </p:spPr>
      </p:pic>
      <p:pic>
        <p:nvPicPr>
          <p:cNvPr id="9" name="Image 3" descr="preencoded.png">    </p:cNvPr>
          <p:cNvPicPr>
            <a:picLocks noChangeAspect="1"/>
          </p:cNvPicPr>
          <p:nvPr/>
        </p:nvPicPr>
        <p:blipFill>
          <a:blip r:embed="rId4"/>
          <a:stretch>
            <a:fillRect/>
          </a:stretch>
        </p:blipFill>
        <p:spPr>
          <a:xfrm>
            <a:off x="3789164" y="1999536"/>
            <a:ext cx="176927" cy="221218"/>
          </a:xfrm>
          <a:prstGeom prst="rect">
            <a:avLst/>
          </a:prstGeom>
        </p:spPr>
      </p:pic>
      <p:sp>
        <p:nvSpPr>
          <p:cNvPr id="10" name="Text 4"/>
          <p:cNvSpPr/>
          <p:nvPr/>
        </p:nvSpPr>
        <p:spPr>
          <a:xfrm>
            <a:off x="6272213" y="1873448"/>
            <a:ext cx="1573292" cy="196572"/>
          </a:xfrm>
          <a:prstGeom prst="rect">
            <a:avLst/>
          </a:prstGeom>
          <a:noFill/>
          <a:ln/>
        </p:spPr>
        <p:txBody>
          <a:bodyPr wrap="none" lIns="0" tIns="0" rIns="0" bIns="0" rtlCol="0" anchor="t"/>
          <a:lstStyle/>
          <a:p>
            <a:pPr algn="l" indent="0" marL="0">
              <a:lnSpc>
                <a:spcPts val="1500"/>
              </a:lnSpc>
              <a:buNone/>
            </a:pPr>
            <a:r>
              <a:rPr lang="en-US" sz="1200" dirty="0">
                <a:solidFill>
                  <a:srgbClr val="E5E0DF"/>
                </a:solidFill>
                <a:latin typeface="Roboto Mono Medium" pitchFamily="34" charset="0"/>
                <a:ea typeface="Roboto Mono Medium" pitchFamily="34" charset="-122"/>
                <a:cs typeface="Roboto Mono Medium" pitchFamily="34" charset="-120"/>
              </a:rPr>
              <a:t>구조 및 작동 방식</a:t>
            </a:r>
            <a:endParaRPr lang="en-US" sz="1200" dirty="0"/>
          </a:p>
        </p:txBody>
      </p:sp>
      <p:sp>
        <p:nvSpPr>
          <p:cNvPr id="11" name="Text 5"/>
          <p:cNvSpPr/>
          <p:nvPr/>
        </p:nvSpPr>
        <p:spPr>
          <a:xfrm>
            <a:off x="6272213" y="2145506"/>
            <a:ext cx="5158859" cy="201335"/>
          </a:xfrm>
          <a:prstGeom prst="rect">
            <a:avLst/>
          </a:prstGeom>
          <a:noFill/>
          <a:ln/>
        </p:spPr>
        <p:txBody>
          <a:bodyPr wrap="none" lIns="0" tIns="0" rIns="0" bIns="0" rtlCol="0" anchor="t"/>
          <a:lstStyle/>
          <a:p>
            <a:pPr algn="l" indent="0" marL="0">
              <a:lnSpc>
                <a:spcPts val="1550"/>
              </a:lnSpc>
              <a:buNone/>
            </a:pPr>
            <a:r>
              <a:rPr lang="en-US" sz="950" dirty="0">
                <a:solidFill>
                  <a:srgbClr val="E5E0DF"/>
                </a:solidFill>
                <a:latin typeface="Roboto" pitchFamily="34" charset="0"/>
                <a:ea typeface="Roboto" pitchFamily="34" charset="-122"/>
                <a:cs typeface="Roboto" pitchFamily="34" charset="-120"/>
              </a:rPr>
              <a:t>GPT-2를 인코더로 사용하고, 그 위에 과제별 출력 목적에 맞는 분류기나 생성기를 부착하는 방식이다.</a:t>
            </a:r>
            <a:endParaRPr lang="en-US" sz="950" dirty="0"/>
          </a:p>
        </p:txBody>
      </p:sp>
      <p:sp>
        <p:nvSpPr>
          <p:cNvPr id="12" name="Shape 6"/>
          <p:cNvSpPr/>
          <p:nvPr/>
        </p:nvSpPr>
        <p:spPr>
          <a:xfrm>
            <a:off x="6177796" y="2484596"/>
            <a:ext cx="7980640" cy="7620"/>
          </a:xfrm>
          <a:prstGeom prst="roundRect">
            <a:avLst>
              <a:gd name="adj" fmla="val 247780"/>
            </a:avLst>
          </a:prstGeom>
          <a:solidFill>
            <a:srgbClr val="595959"/>
          </a:solidFill>
          <a:ln/>
        </p:spPr>
      </p:sp>
      <p:pic>
        <p:nvPicPr>
          <p:cNvPr id="13" name="Image 4" descr="preencoded.png">    </p:cNvPr>
          <p:cNvPicPr>
            <a:picLocks noChangeAspect="1"/>
          </p:cNvPicPr>
          <p:nvPr/>
        </p:nvPicPr>
        <p:blipFill>
          <a:blip r:embed="rId5"/>
          <a:stretch>
            <a:fillRect/>
          </a:stretch>
        </p:blipFill>
        <p:spPr>
          <a:xfrm>
            <a:off x="474821" y="2504123"/>
            <a:ext cx="6805851" cy="725091"/>
          </a:xfrm>
          <a:prstGeom prst="rect">
            <a:avLst/>
          </a:prstGeom>
        </p:spPr>
      </p:pic>
      <p:pic>
        <p:nvPicPr>
          <p:cNvPr id="14" name="Image 5" descr="preencoded.png">    </p:cNvPr>
          <p:cNvPicPr>
            <a:picLocks noChangeAspect="1"/>
          </p:cNvPicPr>
          <p:nvPr/>
        </p:nvPicPr>
        <p:blipFill>
          <a:blip r:embed="rId6"/>
          <a:stretch>
            <a:fillRect/>
          </a:stretch>
        </p:blipFill>
        <p:spPr>
          <a:xfrm>
            <a:off x="3789164" y="2756059"/>
            <a:ext cx="176927" cy="221218"/>
          </a:xfrm>
          <a:prstGeom prst="rect">
            <a:avLst/>
          </a:prstGeom>
        </p:spPr>
      </p:pic>
      <p:sp>
        <p:nvSpPr>
          <p:cNvPr id="15" name="Text 7"/>
          <p:cNvSpPr/>
          <p:nvPr/>
        </p:nvSpPr>
        <p:spPr>
          <a:xfrm>
            <a:off x="7406521" y="2629972"/>
            <a:ext cx="1573292" cy="196572"/>
          </a:xfrm>
          <a:prstGeom prst="rect">
            <a:avLst/>
          </a:prstGeom>
          <a:noFill/>
          <a:ln/>
        </p:spPr>
        <p:txBody>
          <a:bodyPr wrap="none" lIns="0" tIns="0" rIns="0" bIns="0" rtlCol="0" anchor="t"/>
          <a:lstStyle/>
          <a:p>
            <a:pPr algn="l" indent="0" marL="0">
              <a:lnSpc>
                <a:spcPts val="1500"/>
              </a:lnSpc>
              <a:buNone/>
            </a:pPr>
            <a:r>
              <a:rPr lang="en-US" sz="1200" dirty="0">
                <a:solidFill>
                  <a:srgbClr val="E5E0DF"/>
                </a:solidFill>
                <a:latin typeface="Roboto Mono Medium" pitchFamily="34" charset="0"/>
                <a:ea typeface="Roboto Mono Medium" pitchFamily="34" charset="-122"/>
                <a:cs typeface="Roboto Mono Medium" pitchFamily="34" charset="-120"/>
              </a:rPr>
              <a:t>적용 사례</a:t>
            </a:r>
            <a:endParaRPr lang="en-US" sz="1200" dirty="0"/>
          </a:p>
        </p:txBody>
      </p:sp>
      <p:sp>
        <p:nvSpPr>
          <p:cNvPr id="16" name="Text 8"/>
          <p:cNvSpPr/>
          <p:nvPr/>
        </p:nvSpPr>
        <p:spPr>
          <a:xfrm>
            <a:off x="7406521" y="2902029"/>
            <a:ext cx="1628537" cy="201335"/>
          </a:xfrm>
          <a:prstGeom prst="rect">
            <a:avLst/>
          </a:prstGeom>
          <a:noFill/>
          <a:ln/>
        </p:spPr>
        <p:txBody>
          <a:bodyPr wrap="none" lIns="0" tIns="0" rIns="0" bIns="0" rtlCol="0" anchor="t"/>
          <a:lstStyle/>
          <a:p>
            <a:pPr algn="l" indent="0" marL="0">
              <a:lnSpc>
                <a:spcPts val="1550"/>
              </a:lnSpc>
              <a:buNone/>
            </a:pPr>
            <a:r>
              <a:rPr lang="en-US" sz="950" dirty="0">
                <a:solidFill>
                  <a:srgbClr val="E5E0DF"/>
                </a:solidFill>
                <a:latin typeface="Roboto" pitchFamily="34" charset="0"/>
                <a:ea typeface="Roboto" pitchFamily="34" charset="-122"/>
                <a:cs typeface="Roboto" pitchFamily="34" charset="-120"/>
              </a:rPr>
              <a:t>감정 분류와 패러프레이즈 탐지 </a:t>
            </a:r>
            <a:endParaRPr lang="en-US" sz="950" dirty="0"/>
          </a:p>
        </p:txBody>
      </p:sp>
      <p:sp>
        <p:nvSpPr>
          <p:cNvPr id="17" name="Text 9"/>
          <p:cNvSpPr/>
          <p:nvPr/>
        </p:nvSpPr>
        <p:spPr>
          <a:xfrm>
            <a:off x="440531" y="3370778"/>
            <a:ext cx="13749337" cy="201335"/>
          </a:xfrm>
          <a:prstGeom prst="rect">
            <a:avLst/>
          </a:prstGeom>
          <a:noFill/>
          <a:ln/>
        </p:spPr>
        <p:txBody>
          <a:bodyPr wrap="none" lIns="0" tIns="0" rIns="0" bIns="0" rtlCol="0" anchor="t"/>
          <a:lstStyle/>
          <a:p>
            <a:pPr algn="l" indent="0" marL="0">
              <a:lnSpc>
                <a:spcPts val="1550"/>
              </a:lnSpc>
              <a:buNone/>
            </a:pPr>
            <a:r>
              <a:rPr lang="en-US" sz="950" dirty="0">
                <a:solidFill>
                  <a:srgbClr val="E5E0DF"/>
                </a:solidFill>
                <a:latin typeface="Roboto" pitchFamily="34" charset="0"/>
                <a:ea typeface="Roboto" pitchFamily="34" charset="-122"/>
                <a:cs typeface="Roboto" pitchFamily="34" charset="-120"/>
              </a:rPr>
              <a:t>사전 학습된 GPT-2 → 다음 단어를 예측하는 생성(generative) 모델이다.</a:t>
            </a:r>
            <a:endParaRPr lang="en-US" sz="950" dirty="0"/>
          </a:p>
        </p:txBody>
      </p:sp>
      <p:sp>
        <p:nvSpPr>
          <p:cNvPr id="18" name="Text 10"/>
          <p:cNvSpPr/>
          <p:nvPr/>
        </p:nvSpPr>
        <p:spPr>
          <a:xfrm>
            <a:off x="440531" y="3713678"/>
            <a:ext cx="13749337" cy="201335"/>
          </a:xfrm>
          <a:prstGeom prst="rect">
            <a:avLst/>
          </a:prstGeom>
          <a:noFill/>
          <a:ln/>
        </p:spPr>
        <p:txBody>
          <a:bodyPr wrap="none" lIns="0" tIns="0" rIns="0" bIns="0" rtlCol="0" anchor="t"/>
          <a:lstStyle/>
          <a:p>
            <a:pPr algn="l" indent="0" marL="0">
              <a:lnSpc>
                <a:spcPts val="1550"/>
              </a:lnSpc>
              <a:buNone/>
            </a:pPr>
            <a:r>
              <a:rPr lang="en-US" sz="950" dirty="0">
                <a:solidFill>
                  <a:srgbClr val="E5E0DF"/>
                </a:solidFill>
                <a:latin typeface="Roboto" pitchFamily="34" charset="0"/>
                <a:ea typeface="Roboto" pitchFamily="34" charset="-122"/>
                <a:cs typeface="Roboto" pitchFamily="34" charset="-120"/>
              </a:rPr>
              <a:t>분류(classification)와 같은 특정 과제에 직접 사용하기 어렵다.</a:t>
            </a:r>
            <a:endParaRPr lang="en-US" sz="950" dirty="0"/>
          </a:p>
        </p:txBody>
      </p:sp>
      <p:sp>
        <p:nvSpPr>
          <p:cNvPr id="19" name="Text 11"/>
          <p:cNvSpPr/>
          <p:nvPr/>
        </p:nvSpPr>
        <p:spPr>
          <a:xfrm>
            <a:off x="440531" y="4056578"/>
            <a:ext cx="13749337" cy="201335"/>
          </a:xfrm>
          <a:prstGeom prst="rect">
            <a:avLst/>
          </a:prstGeom>
          <a:noFill/>
          <a:ln/>
        </p:spPr>
        <p:txBody>
          <a:bodyPr wrap="none" lIns="0" tIns="0" rIns="0" bIns="0" rtlCol="0" anchor="t"/>
          <a:lstStyle/>
          <a:p>
            <a:pPr algn="l" indent="0" marL="0">
              <a:lnSpc>
                <a:spcPts val="1550"/>
              </a:lnSpc>
              <a:buNone/>
            </a:pPr>
            <a:r>
              <a:rPr lang="en-US" sz="950" dirty="0">
                <a:solidFill>
                  <a:srgbClr val="E5E0DF"/>
                </a:solidFill>
                <a:latin typeface="Roboto" pitchFamily="34" charset="0"/>
                <a:ea typeface="Roboto" pitchFamily="34" charset="-122"/>
                <a:cs typeface="Roboto" pitchFamily="34" charset="-120"/>
              </a:rPr>
              <a:t>따라서  GPT-2의 표현 능력은 유지하면서 과제에 적합한 출력을 생성할 수 있도록 Task-specific Head를 추가</a:t>
            </a:r>
            <a:endParaRPr lang="en-US" sz="950" dirty="0"/>
          </a:p>
        </p:txBody>
      </p:sp>
      <p:sp>
        <p:nvSpPr>
          <p:cNvPr id="20" name="Text 12"/>
          <p:cNvSpPr/>
          <p:nvPr/>
        </p:nvSpPr>
        <p:spPr>
          <a:xfrm>
            <a:off x="440531" y="4399478"/>
            <a:ext cx="13749337" cy="201335"/>
          </a:xfrm>
          <a:prstGeom prst="rect">
            <a:avLst/>
          </a:prstGeom>
          <a:noFill/>
          <a:ln/>
        </p:spPr>
        <p:txBody>
          <a:bodyPr wrap="none" lIns="0" tIns="0" rIns="0" bIns="0" rtlCol="0" anchor="t"/>
          <a:lstStyle/>
          <a:p>
            <a:pPr algn="l" indent="0" marL="0">
              <a:lnSpc>
                <a:spcPts val="1550"/>
              </a:lnSpc>
              <a:buNone/>
            </a:pPr>
            <a:r>
              <a:rPr lang="en-US" sz="950" dirty="0">
                <a:solidFill>
                  <a:srgbClr val="E5E0DF"/>
                </a:solidFill>
                <a:latin typeface="Roboto" pitchFamily="34" charset="0"/>
                <a:ea typeface="Roboto" pitchFamily="34" charset="-122"/>
                <a:cs typeface="Roboto" pitchFamily="34" charset="-120"/>
              </a:rPr>
              <a:t>Task-specific Head는 GPT-2가 출력한 마지막 토큰의 hidden state를 입력으로 받아, 간단한 2층 MLP (Linear → ReLU → Linear) 구조로 최종 출력값을 생성</a:t>
            </a:r>
            <a:endParaRPr lang="en-US" sz="950" dirty="0"/>
          </a:p>
        </p:txBody>
      </p:sp>
      <p:pic>
        <p:nvPicPr>
          <p:cNvPr id="21" name="Image 6" descr="preencoded.png">    </p:cNvPr>
          <p:cNvPicPr>
            <a:picLocks noChangeAspect="1"/>
          </p:cNvPicPr>
          <p:nvPr/>
        </p:nvPicPr>
        <p:blipFill>
          <a:blip r:embed="rId7"/>
          <a:stretch>
            <a:fillRect/>
          </a:stretch>
        </p:blipFill>
        <p:spPr>
          <a:xfrm>
            <a:off x="440531" y="4742378"/>
            <a:ext cx="7394853" cy="1085612"/>
          </a:xfrm>
          <a:prstGeom prst="rect">
            <a:avLst/>
          </a:prstGeom>
        </p:spPr>
      </p:pic>
      <p:sp>
        <p:nvSpPr>
          <p:cNvPr id="22" name="Text 13"/>
          <p:cNvSpPr/>
          <p:nvPr/>
        </p:nvSpPr>
        <p:spPr>
          <a:xfrm>
            <a:off x="440531" y="5969556"/>
            <a:ext cx="13749337" cy="201335"/>
          </a:xfrm>
          <a:prstGeom prst="rect">
            <a:avLst/>
          </a:prstGeom>
          <a:noFill/>
          <a:ln/>
        </p:spPr>
        <p:txBody>
          <a:bodyPr wrap="none" lIns="0" tIns="0" rIns="0" bIns="0" rtlCol="0" anchor="t"/>
          <a:lstStyle/>
          <a:p>
            <a:pPr algn="l" indent="0" marL="0">
              <a:lnSpc>
                <a:spcPts val="1550"/>
              </a:lnSpc>
              <a:buNone/>
            </a:pPr>
            <a:r>
              <a:rPr lang="en-US" sz="950" dirty="0">
                <a:solidFill>
                  <a:srgbClr val="E5E0DF"/>
                </a:solidFill>
                <a:latin typeface="Roboto" pitchFamily="34" charset="0"/>
                <a:ea typeface="Roboto" pitchFamily="34" charset="-122"/>
                <a:cs typeface="Roboto" pitchFamily="34" charset="-120"/>
              </a:rPr>
              <a:t>감정 분류(Sentiment Analysis): 5개의 감정 클래스 중 하나를 선택하는 5차원 출력을 생성. </a:t>
            </a:r>
            <a:endParaRPr lang="en-US" sz="950" dirty="0"/>
          </a:p>
        </p:txBody>
      </p:sp>
      <p:sp>
        <p:nvSpPr>
          <p:cNvPr id="23" name="Text 14"/>
          <p:cNvSpPr/>
          <p:nvPr/>
        </p:nvSpPr>
        <p:spPr>
          <a:xfrm>
            <a:off x="440531" y="6312456"/>
            <a:ext cx="13749337" cy="201335"/>
          </a:xfrm>
          <a:prstGeom prst="rect">
            <a:avLst/>
          </a:prstGeom>
          <a:noFill/>
          <a:ln/>
        </p:spPr>
        <p:txBody>
          <a:bodyPr wrap="none" lIns="0" tIns="0" rIns="0" bIns="0" rtlCol="0" anchor="t"/>
          <a:lstStyle/>
          <a:p>
            <a:pPr algn="l" indent="0" marL="0">
              <a:lnSpc>
                <a:spcPts val="1550"/>
              </a:lnSpc>
              <a:buNone/>
            </a:pPr>
            <a:r>
              <a:rPr lang="en-US" sz="950" dirty="0">
                <a:solidFill>
                  <a:srgbClr val="E5E0DF"/>
                </a:solidFill>
                <a:latin typeface="Roboto" pitchFamily="34" charset="0"/>
                <a:ea typeface="Roboto" pitchFamily="34" charset="-122"/>
                <a:cs typeface="Roboto" pitchFamily="34" charset="-120"/>
              </a:rPr>
              <a:t>여기서는 사전 학습된 GPT-2를 고정하고 추가된 분류기만 학습 → full fine tuning x</a:t>
            </a:r>
            <a:endParaRPr lang="en-US" sz="950" dirty="0"/>
          </a:p>
        </p:txBody>
      </p:sp>
      <p:sp>
        <p:nvSpPr>
          <p:cNvPr id="24" name="Text 15"/>
          <p:cNvSpPr/>
          <p:nvPr/>
        </p:nvSpPr>
        <p:spPr>
          <a:xfrm>
            <a:off x="440531" y="6655356"/>
            <a:ext cx="13749337" cy="201335"/>
          </a:xfrm>
          <a:prstGeom prst="rect">
            <a:avLst/>
          </a:prstGeom>
          <a:noFill/>
          <a:ln/>
        </p:spPr>
        <p:txBody>
          <a:bodyPr wrap="none" lIns="0" tIns="0" rIns="0" bIns="0" rtlCol="0" anchor="t"/>
          <a:lstStyle/>
          <a:p>
            <a:pPr algn="l" indent="0" marL="0">
              <a:lnSpc>
                <a:spcPts val="1550"/>
              </a:lnSpc>
              <a:buNone/>
            </a:pPr>
            <a:r>
              <a:rPr lang="en-US" sz="950" dirty="0">
                <a:solidFill>
                  <a:srgbClr val="E5E0DF"/>
                </a:solidFill>
                <a:latin typeface="Roboto" pitchFamily="34" charset="0"/>
                <a:ea typeface="Roboto" pitchFamily="34" charset="-122"/>
                <a:cs typeface="Roboto" pitchFamily="34" charset="-120"/>
              </a:rPr>
              <a:t>패러프레이즈 탐지(Paraphrase Detection): Yes/No를 선택하는 2차원 출력을 생성</a:t>
            </a:r>
            <a:endParaRPr lang="en-US" sz="950" dirty="0"/>
          </a:p>
        </p:txBody>
      </p:sp>
      <p:sp>
        <p:nvSpPr>
          <p:cNvPr id="25" name="Text 16"/>
          <p:cNvSpPr/>
          <p:nvPr/>
        </p:nvSpPr>
        <p:spPr>
          <a:xfrm>
            <a:off x="440531" y="6998256"/>
            <a:ext cx="13749337" cy="201335"/>
          </a:xfrm>
          <a:prstGeom prst="rect">
            <a:avLst/>
          </a:prstGeom>
          <a:noFill/>
          <a:ln/>
        </p:spPr>
        <p:txBody>
          <a:bodyPr wrap="none" lIns="0" tIns="0" rIns="0" bIns="0" rtlCol="0" anchor="t"/>
          <a:lstStyle/>
          <a:p>
            <a:pPr algn="l" indent="0" marL="0">
              <a:lnSpc>
                <a:spcPts val="1550"/>
              </a:lnSpc>
              <a:buNone/>
            </a:pPr>
            <a:r>
              <a:rPr lang="en-US" sz="950" dirty="0">
                <a:solidFill>
                  <a:srgbClr val="E5E0DF"/>
                </a:solidFill>
                <a:latin typeface="Roboto" pitchFamily="34" charset="0"/>
                <a:ea typeface="Roboto" pitchFamily="34" charset="-122"/>
                <a:cs typeface="Roboto" pitchFamily="34" charset="-120"/>
              </a:rPr>
              <a:t> 이 과제에서는 MLP Head와 Prompt Tuning, 그리고 GPT-2 전체를 파인튜닝하는 방식(Full Fine-tuning)을 조합</a:t>
            </a:r>
            <a:endParaRPr lang="en-US" sz="950" dirty="0"/>
          </a:p>
        </p:txBody>
      </p:sp>
      <p:sp>
        <p:nvSpPr>
          <p:cNvPr id="26" name="Text 17"/>
          <p:cNvSpPr/>
          <p:nvPr/>
        </p:nvSpPr>
        <p:spPr>
          <a:xfrm>
            <a:off x="440531" y="7341156"/>
            <a:ext cx="13749337" cy="201335"/>
          </a:xfrm>
          <a:prstGeom prst="rect">
            <a:avLst/>
          </a:prstGeom>
          <a:noFill/>
          <a:ln/>
        </p:spPr>
        <p:txBody>
          <a:bodyPr wrap="none" lIns="0" tIns="0" rIns="0" bIns="0" rtlCol="0" anchor="t"/>
          <a:lstStyle/>
          <a:p>
            <a:pPr algn="l" indent="0" marL="0">
              <a:lnSpc>
                <a:spcPts val="1550"/>
              </a:lnSpc>
              <a:buNone/>
            </a:pPr>
            <a:r>
              <a:rPr lang="en-US" sz="950" dirty="0">
                <a:solidFill>
                  <a:srgbClr val="E5E0DF"/>
                </a:solidFill>
                <a:latin typeface="Roboto" pitchFamily="34" charset="0"/>
                <a:ea typeface="Roboto" pitchFamily="34" charset="-122"/>
                <a:cs typeface="Roboto" pitchFamily="34" charset="-120"/>
              </a:rPr>
              <a:t> </a:t>
            </a:r>
            <a:endParaRPr lang="en-US" sz="950" dirty="0"/>
          </a:p>
        </p:txBody>
      </p:sp>
      <p:sp>
        <p:nvSpPr>
          <p:cNvPr id="27" name="Text 18"/>
          <p:cNvSpPr/>
          <p:nvPr/>
        </p:nvSpPr>
        <p:spPr>
          <a:xfrm>
            <a:off x="440531" y="7684056"/>
            <a:ext cx="13749337" cy="201335"/>
          </a:xfrm>
          <a:prstGeom prst="rect">
            <a:avLst/>
          </a:prstGeom>
          <a:noFill/>
          <a:ln/>
        </p:spPr>
        <p:txBody>
          <a:bodyPr wrap="none" lIns="0" tIns="0" rIns="0" bIns="0" rtlCol="0" anchor="t"/>
          <a:lstStyle/>
          <a:p>
            <a:pPr algn="l" indent="0" marL="0">
              <a:lnSpc>
                <a:spcPts val="1550"/>
              </a:lnSpc>
              <a:buNone/>
            </a:pP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757601"/>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FFFFFF"/>
                </a:solidFill>
                <a:latin typeface="Roboto Mono Medium" pitchFamily="34" charset="0"/>
                <a:ea typeface="Roboto Mono Medium" pitchFamily="34" charset="-122"/>
                <a:cs typeface="Roboto Mono Medium" pitchFamily="34" charset="-120"/>
              </a:rPr>
              <a:t>RoLA</a:t>
            </a:r>
            <a:endParaRPr lang="en-US" sz="4450" dirty="0"/>
          </a:p>
        </p:txBody>
      </p:sp>
      <p:sp>
        <p:nvSpPr>
          <p:cNvPr id="3" name="Text 1"/>
          <p:cNvSpPr/>
          <p:nvPr/>
        </p:nvSpPr>
        <p:spPr>
          <a:xfrm>
            <a:off x="793790" y="3033355"/>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FFFFFF"/>
                </a:solidFill>
                <a:latin typeface="Roboto Mono Medium" pitchFamily="34" charset="0"/>
                <a:ea typeface="Roboto Mono Medium" pitchFamily="34" charset="-122"/>
                <a:cs typeface="Roboto Mono Medium" pitchFamily="34" charset="-120"/>
              </a:rPr>
              <a:t>개념</a:t>
            </a:r>
            <a:endParaRPr lang="en-US" sz="2200" dirty="0"/>
          </a:p>
        </p:txBody>
      </p:sp>
      <p:sp>
        <p:nvSpPr>
          <p:cNvPr id="4" name="Text 2"/>
          <p:cNvSpPr/>
          <p:nvPr/>
        </p:nvSpPr>
        <p:spPr>
          <a:xfrm>
            <a:off x="793790" y="3614499"/>
            <a:ext cx="6244709" cy="725805"/>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E5E0DF"/>
                </a:solidFill>
                <a:latin typeface="Roboto" pitchFamily="34" charset="0"/>
                <a:ea typeface="Roboto" pitchFamily="34" charset="-122"/>
                <a:cs typeface="Roboto" pitchFamily="34" charset="-120"/>
              </a:rPr>
              <a:t>LoRA는 대규모 모델 전체를 파인튜닝할 때 발생하는 과도한 학습 비용과 GPU 메모리 사용 문제를 해결하기 위해 제안된 기법</a:t>
            </a:r>
            <a:endParaRPr lang="en-US" sz="1750" dirty="0"/>
          </a:p>
        </p:txBody>
      </p:sp>
      <p:sp>
        <p:nvSpPr>
          <p:cNvPr id="5" name="Text 3"/>
          <p:cNvSpPr/>
          <p:nvPr/>
        </p:nvSpPr>
        <p:spPr>
          <a:xfrm>
            <a:off x="793790" y="4419600"/>
            <a:ext cx="6244709" cy="725805"/>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E5E0DF"/>
                </a:solidFill>
                <a:latin typeface="Roboto" pitchFamily="34" charset="0"/>
                <a:ea typeface="Roboto" pitchFamily="34" charset="-122"/>
                <a:cs typeface="Roboto" pitchFamily="34" charset="-120"/>
              </a:rPr>
              <a:t>기존 모델 가중치(W)를 고정하고, 여기에 두 개의 작은 low-rank 행렬(A, B)을 추가하여 학습</a:t>
            </a:r>
            <a:endParaRPr lang="en-US" sz="1750" dirty="0"/>
          </a:p>
        </p:txBody>
      </p:sp>
      <p:sp>
        <p:nvSpPr>
          <p:cNvPr id="6" name="Text 4"/>
          <p:cNvSpPr/>
          <p:nvPr/>
        </p:nvSpPr>
        <p:spPr>
          <a:xfrm>
            <a:off x="793790" y="5224701"/>
            <a:ext cx="6244709"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E5E0DF"/>
                </a:solidFill>
                <a:latin typeface="Roboto" pitchFamily="34" charset="0"/>
                <a:ea typeface="Roboto" pitchFamily="34" charset="-122"/>
                <a:cs typeface="Roboto" pitchFamily="34" charset="-120"/>
              </a:rPr>
              <a:t>W_eff = W + (α / r) * (B @ A)</a:t>
            </a:r>
            <a:endParaRPr lang="en-US" sz="1750" dirty="0"/>
          </a:p>
        </p:txBody>
      </p:sp>
      <p:sp>
        <p:nvSpPr>
          <p:cNvPr id="7" name="Text 5"/>
          <p:cNvSpPr/>
          <p:nvPr/>
        </p:nvSpPr>
        <p:spPr>
          <a:xfrm>
            <a:off x="7599521" y="3033355"/>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FFFFFF"/>
                </a:solidFill>
                <a:latin typeface="Roboto Mono Medium" pitchFamily="34" charset="0"/>
                <a:ea typeface="Roboto Mono Medium" pitchFamily="34" charset="-122"/>
                <a:cs typeface="Roboto Mono Medium" pitchFamily="34" charset="-120"/>
              </a:rPr>
              <a:t>적용</a:t>
            </a:r>
            <a:endParaRPr lang="en-US" sz="2200" dirty="0"/>
          </a:p>
        </p:txBody>
      </p:sp>
      <p:sp>
        <p:nvSpPr>
          <p:cNvPr id="8" name="Text 6"/>
          <p:cNvSpPr/>
          <p:nvPr/>
        </p:nvSpPr>
        <p:spPr>
          <a:xfrm>
            <a:off x="7599521" y="3614499"/>
            <a:ext cx="6244709" cy="725805"/>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E5E0DF"/>
                </a:solidFill>
                <a:latin typeface="Roboto" pitchFamily="34" charset="0"/>
                <a:ea typeface="Roboto" pitchFamily="34" charset="-122"/>
                <a:cs typeface="Roboto" pitchFamily="34" charset="-120"/>
              </a:rPr>
              <a:t>Transformer의 self-attention 구조 내 Q, K, V projection layer에 적용</a:t>
            </a:r>
            <a:endParaRPr lang="en-US" sz="1750" dirty="0"/>
          </a:p>
        </p:txBody>
      </p:sp>
      <p:sp>
        <p:nvSpPr>
          <p:cNvPr id="9" name="Text 7"/>
          <p:cNvSpPr/>
          <p:nvPr/>
        </p:nvSpPr>
        <p:spPr>
          <a:xfrm>
            <a:off x="7599521" y="4419600"/>
            <a:ext cx="6244709" cy="725805"/>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E5E0DF"/>
                </a:solidFill>
                <a:latin typeface="Roboto" pitchFamily="34" charset="0"/>
                <a:ea typeface="Roboto" pitchFamily="34" charset="-122"/>
                <a:cs typeface="Roboto" pitchFamily="34" charset="-120"/>
              </a:rPr>
              <a:t>훈련 단계별로 LoRA 모듈과 Transformer 블록을 선택적으로 제어</a:t>
            </a:r>
            <a:endParaRPr lang="en-US" sz="1750" dirty="0"/>
          </a:p>
        </p:txBody>
      </p:sp>
      <p:sp>
        <p:nvSpPr>
          <p:cNvPr id="10" name="Text 8"/>
          <p:cNvSpPr/>
          <p:nvPr/>
        </p:nvSpPr>
        <p:spPr>
          <a:xfrm>
            <a:off x="7599521" y="5224701"/>
            <a:ext cx="6244709" cy="725805"/>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E5E0DF"/>
                </a:solidFill>
                <a:latin typeface="Roboto" pitchFamily="34" charset="0"/>
                <a:ea typeface="Roboto" pitchFamily="34" charset="-122"/>
                <a:cs typeface="Roboto" pitchFamily="34" charset="-120"/>
              </a:rPr>
              <a:t>추론에 중요한 상위 레이어(예: 9~11번)부터 LoRA를 적용하여 효율적으로 튜닝 시작</a:t>
            </a:r>
            <a:endParaRPr lang="en-US" sz="1750" dirty="0"/>
          </a:p>
        </p:txBody>
      </p:sp>
      <p:sp>
        <p:nvSpPr>
          <p:cNvPr id="11" name="Text 9"/>
          <p:cNvSpPr/>
          <p:nvPr/>
        </p:nvSpPr>
        <p:spPr>
          <a:xfrm>
            <a:off x="7599521" y="6029801"/>
            <a:ext cx="6244709"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E5E0DF"/>
                </a:solidFill>
                <a:latin typeface="Roboto" pitchFamily="34" charset="0"/>
                <a:ea typeface="Roboto" pitchFamily="34" charset="-122"/>
                <a:cs typeface="Roboto" pitchFamily="34" charset="-120"/>
              </a:rPr>
              <a:t>학습이 안정되면 하위 레이어까지 점진적으로 확장</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729" y="390287"/>
            <a:ext cx="3548420" cy="443508"/>
          </a:xfrm>
          <a:prstGeom prst="rect">
            <a:avLst/>
          </a:prstGeom>
          <a:noFill/>
          <a:ln/>
        </p:spPr>
        <p:txBody>
          <a:bodyPr wrap="none" lIns="0" tIns="0" rIns="0" bIns="0" rtlCol="0" anchor="t"/>
          <a:lstStyle/>
          <a:p>
            <a:pPr algn="l" indent="0" marL="0">
              <a:lnSpc>
                <a:spcPts val="3450"/>
              </a:lnSpc>
              <a:buNone/>
            </a:pPr>
            <a:r>
              <a:rPr lang="en-US" sz="2750" dirty="0">
                <a:solidFill>
                  <a:srgbClr val="FFFFFF"/>
                </a:solidFill>
                <a:latin typeface="Roboto Mono Medium" pitchFamily="34" charset="0"/>
                <a:ea typeface="Roboto Mono Medium" pitchFamily="34" charset="-122"/>
                <a:cs typeface="Roboto Mono Medium" pitchFamily="34" charset="-120"/>
              </a:rPr>
              <a:t>Distillation</a:t>
            </a:r>
            <a:endParaRPr lang="en-US" sz="2750" dirty="0"/>
          </a:p>
        </p:txBody>
      </p:sp>
      <p:sp>
        <p:nvSpPr>
          <p:cNvPr id="3" name="Shape 1"/>
          <p:cNvSpPr/>
          <p:nvPr/>
        </p:nvSpPr>
        <p:spPr>
          <a:xfrm>
            <a:off x="496729" y="1330523"/>
            <a:ext cx="6765250" cy="141923"/>
          </a:xfrm>
          <a:prstGeom prst="roundRect">
            <a:avLst>
              <a:gd name="adj" fmla="val 15002"/>
            </a:avLst>
          </a:prstGeom>
          <a:solidFill>
            <a:srgbClr val="404040"/>
          </a:solidFill>
          <a:ln/>
        </p:spPr>
      </p:sp>
      <p:sp>
        <p:nvSpPr>
          <p:cNvPr id="4" name="Text 2"/>
          <p:cNvSpPr/>
          <p:nvPr/>
        </p:nvSpPr>
        <p:spPr>
          <a:xfrm>
            <a:off x="638651" y="1614368"/>
            <a:ext cx="1774150" cy="221694"/>
          </a:xfrm>
          <a:prstGeom prst="rect">
            <a:avLst/>
          </a:prstGeom>
          <a:noFill/>
          <a:ln/>
        </p:spPr>
        <p:txBody>
          <a:bodyPr wrap="none" lIns="0" tIns="0" rIns="0" bIns="0" rtlCol="0" anchor="t"/>
          <a:lstStyle/>
          <a:p>
            <a:pPr algn="l" indent="0" marL="0">
              <a:lnSpc>
                <a:spcPts val="1700"/>
              </a:lnSpc>
              <a:buNone/>
            </a:pPr>
            <a:r>
              <a:rPr lang="en-US" sz="1350" dirty="0">
                <a:solidFill>
                  <a:srgbClr val="E5E0DF"/>
                </a:solidFill>
                <a:latin typeface="Roboto Mono Medium" pitchFamily="34" charset="0"/>
                <a:ea typeface="Roboto Mono Medium" pitchFamily="34" charset="-122"/>
                <a:cs typeface="Roboto Mono Medium" pitchFamily="34" charset="-120"/>
              </a:rPr>
              <a:t>개념</a:t>
            </a:r>
            <a:endParaRPr lang="en-US" sz="1350" dirty="0"/>
          </a:p>
        </p:txBody>
      </p:sp>
      <p:sp>
        <p:nvSpPr>
          <p:cNvPr id="5" name="Text 3"/>
          <p:cNvSpPr/>
          <p:nvPr/>
        </p:nvSpPr>
        <p:spPr>
          <a:xfrm>
            <a:off x="638651" y="1921193"/>
            <a:ext cx="6481405" cy="454104"/>
          </a:xfrm>
          <a:prstGeom prst="rect">
            <a:avLst/>
          </a:prstGeom>
          <a:noFill/>
          <a:ln/>
        </p:spPr>
        <p:txBody>
          <a:bodyPr wrap="square" lIns="0" tIns="0" rIns="0" bIns="0" rtlCol="0" anchor="t"/>
          <a:lstStyle/>
          <a:p>
            <a:pPr algn="l" marL="342900" indent="-342900">
              <a:lnSpc>
                <a:spcPts val="1750"/>
              </a:lnSpc>
              <a:buSzPct val="100000"/>
              <a:buChar char="•"/>
            </a:pPr>
            <a:r>
              <a:rPr lang="en-US" sz="1100" dirty="0">
                <a:solidFill>
                  <a:srgbClr val="E5E0DF"/>
                </a:solidFill>
                <a:latin typeface="Roboto" pitchFamily="34" charset="0"/>
                <a:ea typeface="Roboto" pitchFamily="34" charset="-122"/>
                <a:cs typeface="Roboto" pitchFamily="34" charset="-120"/>
              </a:rPr>
              <a:t>높은 성능을 가진 대형 모델(Teacher)의 지식을 소형 모델(Student)로 전달하여, 파라미터 수는 줄이면서도 성능을 유지하거나 향상시키는 학습 기법</a:t>
            </a:r>
            <a:endParaRPr lang="en-US" sz="1100" dirty="0"/>
          </a:p>
        </p:txBody>
      </p:sp>
      <p:sp>
        <p:nvSpPr>
          <p:cNvPr id="6" name="Text 4"/>
          <p:cNvSpPr/>
          <p:nvPr/>
        </p:nvSpPr>
        <p:spPr>
          <a:xfrm>
            <a:off x="638651" y="2460427"/>
            <a:ext cx="6481405" cy="227052"/>
          </a:xfrm>
          <a:prstGeom prst="rect">
            <a:avLst/>
          </a:prstGeom>
          <a:noFill/>
          <a:ln/>
        </p:spPr>
        <p:txBody>
          <a:bodyPr wrap="none" lIns="0" tIns="0" rIns="0" bIns="0" rtlCol="0" anchor="t"/>
          <a:lstStyle/>
          <a:p>
            <a:pPr algn="l" indent="0" marL="0">
              <a:lnSpc>
                <a:spcPts val="1750"/>
              </a:lnSpc>
              <a:buNone/>
            </a:pPr>
            <a:r>
              <a:rPr lang="en-US" sz="1100" dirty="0">
                <a:solidFill>
                  <a:srgbClr val="E5E0DF"/>
                </a:solidFill>
                <a:latin typeface="Roboto" pitchFamily="34" charset="0"/>
                <a:ea typeface="Roboto" pitchFamily="34" charset="-122"/>
                <a:cs typeface="Roboto" pitchFamily="34" charset="-120"/>
              </a:rPr>
              <a:t>Teacher Model: gpt_4.1</a:t>
            </a:r>
            <a:endParaRPr lang="en-US" sz="1100" dirty="0"/>
          </a:p>
        </p:txBody>
      </p:sp>
      <p:sp>
        <p:nvSpPr>
          <p:cNvPr id="7" name="Text 5"/>
          <p:cNvSpPr/>
          <p:nvPr/>
        </p:nvSpPr>
        <p:spPr>
          <a:xfrm>
            <a:off x="638651" y="2772608"/>
            <a:ext cx="6481405" cy="227052"/>
          </a:xfrm>
          <a:prstGeom prst="rect">
            <a:avLst/>
          </a:prstGeom>
          <a:noFill/>
          <a:ln/>
        </p:spPr>
        <p:txBody>
          <a:bodyPr wrap="none" lIns="0" tIns="0" rIns="0" bIns="0" rtlCol="0" anchor="t"/>
          <a:lstStyle/>
          <a:p>
            <a:pPr algn="l" indent="0" marL="0">
              <a:lnSpc>
                <a:spcPts val="1750"/>
              </a:lnSpc>
              <a:buNone/>
            </a:pPr>
            <a:r>
              <a:rPr lang="en-US" sz="1100" dirty="0">
                <a:solidFill>
                  <a:srgbClr val="E5E0DF"/>
                </a:solidFill>
                <a:latin typeface="Roboto" pitchFamily="34" charset="0"/>
                <a:ea typeface="Roboto" pitchFamily="34" charset="-122"/>
                <a:cs typeface="Roboto" pitchFamily="34" charset="-120"/>
              </a:rPr>
              <a:t>Student Model: SonnetGPT</a:t>
            </a:r>
            <a:endParaRPr lang="en-US" sz="1100" dirty="0"/>
          </a:p>
        </p:txBody>
      </p:sp>
      <p:sp>
        <p:nvSpPr>
          <p:cNvPr id="8" name="Shape 6"/>
          <p:cNvSpPr/>
          <p:nvPr/>
        </p:nvSpPr>
        <p:spPr>
          <a:xfrm>
            <a:off x="7368421" y="1117640"/>
            <a:ext cx="6765250" cy="141923"/>
          </a:xfrm>
          <a:prstGeom prst="roundRect">
            <a:avLst>
              <a:gd name="adj" fmla="val 15002"/>
            </a:avLst>
          </a:prstGeom>
          <a:solidFill>
            <a:srgbClr val="404040"/>
          </a:solidFill>
          <a:ln/>
        </p:spPr>
      </p:sp>
      <p:sp>
        <p:nvSpPr>
          <p:cNvPr id="9" name="Text 7"/>
          <p:cNvSpPr/>
          <p:nvPr/>
        </p:nvSpPr>
        <p:spPr>
          <a:xfrm>
            <a:off x="7510343" y="1401485"/>
            <a:ext cx="6481405" cy="227052"/>
          </a:xfrm>
          <a:prstGeom prst="rect">
            <a:avLst/>
          </a:prstGeom>
          <a:noFill/>
          <a:ln/>
        </p:spPr>
        <p:txBody>
          <a:bodyPr wrap="none" lIns="0" tIns="0" rIns="0" bIns="0" rtlCol="0" anchor="t"/>
          <a:lstStyle/>
          <a:p>
            <a:pPr algn="l" indent="0" marL="0">
              <a:lnSpc>
                <a:spcPts val="1750"/>
              </a:lnSpc>
              <a:buNone/>
            </a:pPr>
            <a:r>
              <a:rPr lang="en-US" sz="1100" dirty="0">
                <a:solidFill>
                  <a:srgbClr val="E5E0DF"/>
                </a:solidFill>
                <a:latin typeface="Roboto" pitchFamily="34" charset="0"/>
                <a:ea typeface="Roboto" pitchFamily="34" charset="-122"/>
                <a:cs typeface="Roboto" pitchFamily="34" charset="-120"/>
              </a:rPr>
              <a:t>적용 배경  </a:t>
            </a:r>
            <a:endParaRPr lang="en-US" sz="1100" dirty="0"/>
          </a:p>
        </p:txBody>
      </p:sp>
      <p:sp>
        <p:nvSpPr>
          <p:cNvPr id="10" name="Text 8"/>
          <p:cNvSpPr/>
          <p:nvPr/>
        </p:nvSpPr>
        <p:spPr>
          <a:xfrm>
            <a:off x="7510343" y="1713667"/>
            <a:ext cx="6481405" cy="227052"/>
          </a:xfrm>
          <a:prstGeom prst="rect">
            <a:avLst/>
          </a:prstGeom>
          <a:noFill/>
          <a:ln/>
        </p:spPr>
        <p:txBody>
          <a:bodyPr wrap="none" lIns="0" tIns="0" rIns="0" bIns="0" rtlCol="0" anchor="t"/>
          <a:lstStyle/>
          <a:p>
            <a:pPr algn="l" marL="342900" indent="-342900">
              <a:lnSpc>
                <a:spcPts val="1750"/>
              </a:lnSpc>
              <a:buSzPct val="100000"/>
              <a:buChar char="•"/>
            </a:pPr>
            <a:r>
              <a:rPr lang="en-US" sz="1100" dirty="0">
                <a:solidFill>
                  <a:srgbClr val="E5E0DF"/>
                </a:solidFill>
                <a:latin typeface="Roboto" pitchFamily="34" charset="0"/>
                <a:ea typeface="Roboto" pitchFamily="34" charset="-122"/>
                <a:cs typeface="Roboto" pitchFamily="34" charset="-120"/>
              </a:rPr>
              <a:t>데이터 부족</a:t>
            </a:r>
            <a:endParaRPr lang="en-US" sz="1100" dirty="0"/>
          </a:p>
        </p:txBody>
      </p:sp>
      <p:sp>
        <p:nvSpPr>
          <p:cNvPr id="11" name="Text 9"/>
          <p:cNvSpPr/>
          <p:nvPr/>
        </p:nvSpPr>
        <p:spPr>
          <a:xfrm>
            <a:off x="7510343" y="2025848"/>
            <a:ext cx="6481405" cy="227052"/>
          </a:xfrm>
          <a:prstGeom prst="rect">
            <a:avLst/>
          </a:prstGeom>
          <a:noFill/>
          <a:ln/>
        </p:spPr>
        <p:txBody>
          <a:bodyPr wrap="none" lIns="0" tIns="0" rIns="0" bIns="0" rtlCol="0" anchor="t"/>
          <a:lstStyle/>
          <a:p>
            <a:pPr algn="l" indent="0" marL="0">
              <a:lnSpc>
                <a:spcPts val="1750"/>
              </a:lnSpc>
              <a:buNone/>
            </a:pPr>
            <a:r>
              <a:rPr lang="en-US" sz="1100" dirty="0">
                <a:solidFill>
                  <a:srgbClr val="E5E0DF"/>
                </a:solidFill>
                <a:latin typeface="Roboto" pitchFamily="34" charset="0"/>
                <a:ea typeface="Roboto" pitchFamily="34" charset="-122"/>
                <a:cs typeface="Roboto" pitchFamily="34" charset="-120"/>
              </a:rPr>
              <a:t>장점</a:t>
            </a:r>
            <a:endParaRPr lang="en-US" sz="1100" dirty="0"/>
          </a:p>
        </p:txBody>
      </p:sp>
      <p:sp>
        <p:nvSpPr>
          <p:cNvPr id="12" name="Text 10"/>
          <p:cNvSpPr/>
          <p:nvPr/>
        </p:nvSpPr>
        <p:spPr>
          <a:xfrm>
            <a:off x="7510343" y="2338030"/>
            <a:ext cx="6481405" cy="227052"/>
          </a:xfrm>
          <a:prstGeom prst="rect">
            <a:avLst/>
          </a:prstGeom>
          <a:noFill/>
          <a:ln/>
        </p:spPr>
        <p:txBody>
          <a:bodyPr wrap="none" lIns="0" tIns="0" rIns="0" bIns="0" rtlCol="0" anchor="t"/>
          <a:lstStyle/>
          <a:p>
            <a:pPr algn="l" marL="342900" indent="-342900">
              <a:lnSpc>
                <a:spcPts val="1750"/>
              </a:lnSpc>
              <a:buSzPct val="100000"/>
              <a:buChar char="•"/>
            </a:pPr>
            <a:r>
              <a:rPr lang="en-US" sz="1100" dirty="0">
                <a:solidFill>
                  <a:srgbClr val="E5E0DF"/>
                </a:solidFill>
                <a:latin typeface="Roboto" pitchFamily="34" charset="0"/>
                <a:ea typeface="Roboto" pitchFamily="34" charset="-122"/>
                <a:cs typeface="Roboto" pitchFamily="34" charset="-120"/>
              </a:rPr>
              <a:t> 양질의 학습 데이터를 대량 확보</a:t>
            </a:r>
            <a:endParaRPr lang="en-US" sz="1100" dirty="0"/>
          </a:p>
        </p:txBody>
      </p:sp>
      <p:sp>
        <p:nvSpPr>
          <p:cNvPr id="13" name="Text 11"/>
          <p:cNvSpPr/>
          <p:nvPr/>
        </p:nvSpPr>
        <p:spPr>
          <a:xfrm>
            <a:off x="7510343" y="2614732"/>
            <a:ext cx="6481405" cy="227052"/>
          </a:xfrm>
          <a:prstGeom prst="rect">
            <a:avLst/>
          </a:prstGeom>
          <a:noFill/>
          <a:ln/>
        </p:spPr>
        <p:txBody>
          <a:bodyPr wrap="none" lIns="0" tIns="0" rIns="0" bIns="0" rtlCol="0" anchor="t"/>
          <a:lstStyle/>
          <a:p>
            <a:pPr algn="l" marL="342900" indent="-342900">
              <a:lnSpc>
                <a:spcPts val="1750"/>
              </a:lnSpc>
              <a:buSzPct val="100000"/>
              <a:buChar char="•"/>
            </a:pPr>
            <a:r>
              <a:rPr lang="en-US" sz="1100" dirty="0">
                <a:solidFill>
                  <a:srgbClr val="E5E0DF"/>
                </a:solidFill>
                <a:latin typeface="Roboto" pitchFamily="34" charset="0"/>
                <a:ea typeface="Roboto" pitchFamily="34" charset="-122"/>
                <a:cs typeface="Roboto" pitchFamily="34" charset="-120"/>
              </a:rPr>
              <a:t>Shakespeare 스타일을 강제할 수 있음</a:t>
            </a:r>
            <a:endParaRPr lang="en-US" sz="1100" dirty="0"/>
          </a:p>
        </p:txBody>
      </p:sp>
      <p:sp>
        <p:nvSpPr>
          <p:cNvPr id="14" name="Shape 12"/>
          <p:cNvSpPr/>
          <p:nvPr/>
        </p:nvSpPr>
        <p:spPr>
          <a:xfrm>
            <a:off x="496729" y="3460909"/>
            <a:ext cx="6765250" cy="141923"/>
          </a:xfrm>
          <a:prstGeom prst="roundRect">
            <a:avLst>
              <a:gd name="adj" fmla="val 15002"/>
            </a:avLst>
          </a:prstGeom>
          <a:solidFill>
            <a:srgbClr val="404040"/>
          </a:solidFill>
          <a:ln/>
        </p:spPr>
      </p:sp>
      <p:sp>
        <p:nvSpPr>
          <p:cNvPr id="15" name="Text 13"/>
          <p:cNvSpPr/>
          <p:nvPr/>
        </p:nvSpPr>
        <p:spPr>
          <a:xfrm>
            <a:off x="638651" y="3744754"/>
            <a:ext cx="2006918" cy="221694"/>
          </a:xfrm>
          <a:prstGeom prst="rect">
            <a:avLst/>
          </a:prstGeom>
          <a:noFill/>
          <a:ln/>
        </p:spPr>
        <p:txBody>
          <a:bodyPr wrap="none" lIns="0" tIns="0" rIns="0" bIns="0" rtlCol="0" anchor="t"/>
          <a:lstStyle/>
          <a:p>
            <a:pPr algn="l" indent="0" marL="0">
              <a:lnSpc>
                <a:spcPts val="1700"/>
              </a:lnSpc>
              <a:buNone/>
            </a:pPr>
            <a:r>
              <a:rPr lang="en-US" sz="1350" dirty="0">
                <a:solidFill>
                  <a:srgbClr val="E5E0DF"/>
                </a:solidFill>
                <a:latin typeface="Roboto Mono Medium" pitchFamily="34" charset="0"/>
                <a:ea typeface="Roboto Mono Medium" pitchFamily="34" charset="-122"/>
                <a:cs typeface="Roboto Mono Medium" pitchFamily="34" charset="-120"/>
              </a:rPr>
              <a:t>데이터셋 생성 파이프라인</a:t>
            </a:r>
            <a:endParaRPr lang="en-US" sz="1350" dirty="0"/>
          </a:p>
        </p:txBody>
      </p:sp>
      <p:sp>
        <p:nvSpPr>
          <p:cNvPr id="16" name="Text 14"/>
          <p:cNvSpPr/>
          <p:nvPr/>
        </p:nvSpPr>
        <p:spPr>
          <a:xfrm>
            <a:off x="638651" y="4051578"/>
            <a:ext cx="6481405" cy="227052"/>
          </a:xfrm>
          <a:prstGeom prst="rect">
            <a:avLst/>
          </a:prstGeom>
          <a:noFill/>
          <a:ln/>
        </p:spPr>
        <p:txBody>
          <a:bodyPr wrap="none" lIns="0" tIns="0" rIns="0" bIns="0" rtlCol="0" anchor="t"/>
          <a:lstStyle/>
          <a:p>
            <a:pPr algn="l" marL="342900" indent="-342900">
              <a:lnSpc>
                <a:spcPts val="1750"/>
              </a:lnSpc>
              <a:buSzPct val="100000"/>
              <a:buFont typeface="+mj-lt"/>
              <a:buAutoNum type="arabicPeriod" startAt="1"/>
            </a:pPr>
            <a:r>
              <a:rPr lang="en-US" sz="1100" dirty="0">
                <a:solidFill>
                  <a:srgbClr val="E5E0DF"/>
                </a:solidFill>
                <a:latin typeface="Roboto" pitchFamily="34" charset="0"/>
                <a:ea typeface="Roboto" pitchFamily="34" charset="-122"/>
                <a:cs typeface="Roboto" pitchFamily="34" charset="-120"/>
              </a:rPr>
              <a:t>총 1296개의 고유 seed 생성</a:t>
            </a:r>
            <a:endParaRPr lang="en-US" sz="1100" dirty="0"/>
          </a:p>
        </p:txBody>
      </p:sp>
      <p:sp>
        <p:nvSpPr>
          <p:cNvPr id="17" name="Text 15"/>
          <p:cNvSpPr/>
          <p:nvPr/>
        </p:nvSpPr>
        <p:spPr>
          <a:xfrm>
            <a:off x="638651" y="4328279"/>
            <a:ext cx="6481405" cy="227052"/>
          </a:xfrm>
          <a:prstGeom prst="rect">
            <a:avLst/>
          </a:prstGeom>
          <a:noFill/>
          <a:ln/>
        </p:spPr>
        <p:txBody>
          <a:bodyPr wrap="none" lIns="0" tIns="0" rIns="0" bIns="0" rtlCol="0" anchor="t"/>
          <a:lstStyle/>
          <a:p>
            <a:pPr algn="l" marL="342900" indent="-342900">
              <a:lnSpc>
                <a:spcPts val="1750"/>
              </a:lnSpc>
              <a:buSzPct val="100000"/>
              <a:buFont typeface="+mj-lt"/>
              <a:buAutoNum type="arabicPeriod" startAt="2"/>
            </a:pPr>
            <a:r>
              <a:rPr lang="en-US" sz="1100" dirty="0">
                <a:solidFill>
                  <a:srgbClr val="E5E0DF"/>
                </a:solidFill>
                <a:latin typeface="Roboto" pitchFamily="34" charset="0"/>
                <a:ea typeface="Roboto" pitchFamily="34" charset="-122"/>
                <a:cs typeface="Roboto" pitchFamily="34" charset="-120"/>
              </a:rPr>
              <a:t>각 seed에 대해 GPT-4.1로 첫 2행만 생성하도록 요청하여 다양한 시작점 확보</a:t>
            </a:r>
            <a:endParaRPr lang="en-US" sz="1100" dirty="0"/>
          </a:p>
        </p:txBody>
      </p:sp>
      <p:sp>
        <p:nvSpPr>
          <p:cNvPr id="18" name="Text 16"/>
          <p:cNvSpPr/>
          <p:nvPr/>
        </p:nvSpPr>
        <p:spPr>
          <a:xfrm>
            <a:off x="638651" y="4604980"/>
            <a:ext cx="6481405" cy="227052"/>
          </a:xfrm>
          <a:prstGeom prst="rect">
            <a:avLst/>
          </a:prstGeom>
          <a:noFill/>
          <a:ln/>
        </p:spPr>
        <p:txBody>
          <a:bodyPr wrap="none" lIns="0" tIns="0" rIns="0" bIns="0" rtlCol="0" anchor="t"/>
          <a:lstStyle/>
          <a:p>
            <a:pPr algn="l" marL="342900" indent="-342900">
              <a:lnSpc>
                <a:spcPts val="1750"/>
              </a:lnSpc>
              <a:buSzPct val="100000"/>
              <a:buFont typeface="+mj-lt"/>
              <a:buAutoNum type="arabicPeriod" startAt="3"/>
            </a:pPr>
            <a:r>
              <a:rPr lang="en-US" sz="1100" dirty="0">
                <a:solidFill>
                  <a:srgbClr val="E5E0DF"/>
                </a:solidFill>
                <a:latin typeface="Roboto" pitchFamily="34" charset="0"/>
                <a:ea typeface="Roboto" pitchFamily="34" charset="-122"/>
                <a:cs typeface="Roboto" pitchFamily="34" charset="-120"/>
              </a:rPr>
              <a:t>생성된 2행을 프롬프트에 삽입하여 GPT-4.1이 나머지 12행 완성</a:t>
            </a:r>
            <a:endParaRPr lang="en-US" sz="1100" dirty="0"/>
          </a:p>
        </p:txBody>
      </p:sp>
      <p:sp>
        <p:nvSpPr>
          <p:cNvPr id="19" name="Text 17"/>
          <p:cNvSpPr/>
          <p:nvPr/>
        </p:nvSpPr>
        <p:spPr>
          <a:xfrm>
            <a:off x="638651" y="4881682"/>
            <a:ext cx="6481405" cy="227052"/>
          </a:xfrm>
          <a:prstGeom prst="rect">
            <a:avLst/>
          </a:prstGeom>
          <a:noFill/>
          <a:ln/>
        </p:spPr>
        <p:txBody>
          <a:bodyPr wrap="none" lIns="0" tIns="0" rIns="0" bIns="0" rtlCol="0" anchor="t"/>
          <a:lstStyle/>
          <a:p>
            <a:pPr algn="l" marL="342900" indent="-342900">
              <a:lnSpc>
                <a:spcPts val="1750"/>
              </a:lnSpc>
              <a:buSzPct val="100000"/>
              <a:buFont typeface="+mj-lt"/>
              <a:buAutoNum type="arabicPeriod" startAt="4"/>
            </a:pPr>
            <a:r>
              <a:rPr lang="en-US" sz="1100" dirty="0">
                <a:solidFill>
                  <a:srgbClr val="E5E0DF"/>
                </a:solidFill>
                <a:latin typeface="Roboto" pitchFamily="34" charset="0"/>
                <a:ea typeface="Roboto" pitchFamily="34" charset="-122"/>
                <a:cs typeface="Roboto" pitchFamily="34" charset="-120"/>
              </a:rPr>
              <a:t>생성된 결과를 .txt 파일로 저장하고, 마지막 2행(couplet) 앞에 들여쓰기</a:t>
            </a:r>
            <a:endParaRPr lang="en-US" sz="1100" dirty="0"/>
          </a:p>
        </p:txBody>
      </p:sp>
      <p:sp>
        <p:nvSpPr>
          <p:cNvPr id="20" name="Shape 18"/>
          <p:cNvSpPr/>
          <p:nvPr/>
        </p:nvSpPr>
        <p:spPr>
          <a:xfrm>
            <a:off x="7368421" y="3248025"/>
            <a:ext cx="6765250" cy="141923"/>
          </a:xfrm>
          <a:prstGeom prst="roundRect">
            <a:avLst>
              <a:gd name="adj" fmla="val 15002"/>
            </a:avLst>
          </a:prstGeom>
          <a:solidFill>
            <a:srgbClr val="404040"/>
          </a:solidFill>
          <a:ln/>
        </p:spPr>
      </p:sp>
      <p:sp>
        <p:nvSpPr>
          <p:cNvPr id="21" name="Text 19"/>
          <p:cNvSpPr/>
          <p:nvPr/>
        </p:nvSpPr>
        <p:spPr>
          <a:xfrm>
            <a:off x="7510343" y="3531870"/>
            <a:ext cx="1774150" cy="221694"/>
          </a:xfrm>
          <a:prstGeom prst="rect">
            <a:avLst/>
          </a:prstGeom>
          <a:noFill/>
          <a:ln/>
        </p:spPr>
        <p:txBody>
          <a:bodyPr wrap="none" lIns="0" tIns="0" rIns="0" bIns="0" rtlCol="0" anchor="t"/>
          <a:lstStyle/>
          <a:p>
            <a:pPr algn="l" indent="0" marL="0">
              <a:lnSpc>
                <a:spcPts val="1700"/>
              </a:lnSpc>
              <a:buNone/>
            </a:pPr>
            <a:r>
              <a:rPr lang="en-US" sz="1350" dirty="0">
                <a:solidFill>
                  <a:srgbClr val="E5E0DF"/>
                </a:solidFill>
                <a:latin typeface="Roboto Mono Medium" pitchFamily="34" charset="0"/>
                <a:ea typeface="Roboto Mono Medium" pitchFamily="34" charset="-122"/>
                <a:cs typeface="Roboto Mono Medium" pitchFamily="34" charset="-120"/>
              </a:rPr>
              <a:t>Seed 생성</a:t>
            </a:r>
            <a:endParaRPr lang="en-US" sz="1350" dirty="0"/>
          </a:p>
        </p:txBody>
      </p:sp>
      <p:pic>
        <p:nvPicPr>
          <p:cNvPr id="22" name="Image 0" descr="preencoded.png">    </p:cNvPr>
          <p:cNvPicPr>
            <a:picLocks noChangeAspect="1"/>
          </p:cNvPicPr>
          <p:nvPr/>
        </p:nvPicPr>
        <p:blipFill>
          <a:blip r:embed="rId1"/>
          <a:stretch>
            <a:fillRect/>
          </a:stretch>
        </p:blipFill>
        <p:spPr>
          <a:xfrm>
            <a:off x="7510343" y="3913227"/>
            <a:ext cx="6481405" cy="2084784"/>
          </a:xfrm>
          <a:prstGeom prst="rect">
            <a:avLst/>
          </a:prstGeom>
        </p:spPr>
      </p:pic>
      <p:pic>
        <p:nvPicPr>
          <p:cNvPr id="23" name="Image 1" descr="preencoded.png">    </p:cNvPr>
          <p:cNvPicPr>
            <a:picLocks noChangeAspect="1"/>
          </p:cNvPicPr>
          <p:nvPr/>
        </p:nvPicPr>
        <p:blipFill>
          <a:blip r:embed="rId2"/>
          <a:stretch>
            <a:fillRect/>
          </a:stretch>
        </p:blipFill>
        <p:spPr>
          <a:xfrm>
            <a:off x="7510343" y="6157674"/>
            <a:ext cx="6481405" cy="2105144"/>
          </a:xfrm>
          <a:prstGeom prst="rect">
            <a:avLst/>
          </a:prstGeom>
        </p:spPr>
      </p:pic>
      <p:sp>
        <p:nvSpPr>
          <p:cNvPr id="24" name="Text 20"/>
          <p:cNvSpPr/>
          <p:nvPr/>
        </p:nvSpPr>
        <p:spPr>
          <a:xfrm>
            <a:off x="7510343" y="8422481"/>
            <a:ext cx="6481405" cy="227052"/>
          </a:xfrm>
          <a:prstGeom prst="rect">
            <a:avLst/>
          </a:prstGeom>
          <a:noFill/>
          <a:ln/>
        </p:spPr>
        <p:txBody>
          <a:bodyPr wrap="none" lIns="0" tIns="0" rIns="0" bIns="0" rtlCol="0" anchor="t"/>
          <a:lstStyle/>
          <a:p>
            <a:pPr algn="l" indent="0" marL="0">
              <a:lnSpc>
                <a:spcPts val="1750"/>
              </a:lnSpc>
              <a:buNone/>
            </a:pPr>
            <a:r>
              <a:rPr lang="en-US" sz="1100" dirty="0">
                <a:solidFill>
                  <a:srgbClr val="E5E0DF"/>
                </a:solidFill>
                <a:latin typeface="Roboto" pitchFamily="34" charset="0"/>
                <a:ea typeface="Roboto" pitchFamily="34" charset="-122"/>
                <a:cs typeface="Roboto" pitchFamily="34" charset="-120"/>
              </a:rPr>
              <a:t>4 × 3 × 2 × 3 × 3 × 2 × 3 = 1,296개의 seed 생성</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634603"/>
            <a:ext cx="6804898" cy="708779"/>
          </a:xfrm>
          <a:prstGeom prst="rect">
            <a:avLst/>
          </a:prstGeom>
          <a:noFill/>
          <a:ln/>
        </p:spPr>
        <p:txBody>
          <a:bodyPr wrap="none" lIns="0" tIns="0" rIns="0" bIns="0" rtlCol="0" anchor="t"/>
          <a:lstStyle/>
          <a:p>
            <a:pPr algn="l" indent="0" marL="0">
              <a:lnSpc>
                <a:spcPts val="5550"/>
              </a:lnSpc>
              <a:buNone/>
            </a:pPr>
            <a:r>
              <a:rPr lang="en-US" sz="4450" dirty="0">
                <a:solidFill>
                  <a:srgbClr val="FFFFFF"/>
                </a:solidFill>
                <a:latin typeface="Roboto Mono Medium" pitchFamily="34" charset="0"/>
                <a:ea typeface="Roboto Mono Medium" pitchFamily="34" charset="-122"/>
                <a:cs typeface="Roboto Mono Medium" pitchFamily="34" charset="-120"/>
              </a:rPr>
              <a:t>Paraphrase Detection</a:t>
            </a:r>
            <a:endParaRPr lang="en-US" sz="4450" dirty="0"/>
          </a:p>
        </p:txBody>
      </p:sp>
      <p:sp>
        <p:nvSpPr>
          <p:cNvPr id="3" name="Shape 1"/>
          <p:cNvSpPr/>
          <p:nvPr/>
        </p:nvSpPr>
        <p:spPr>
          <a:xfrm>
            <a:off x="793790" y="1797010"/>
            <a:ext cx="13042821" cy="5797868"/>
          </a:xfrm>
          <a:prstGeom prst="roundRect">
            <a:avLst>
              <a:gd name="adj" fmla="val 587"/>
            </a:avLst>
          </a:prstGeom>
          <a:noFill/>
          <a:ln w="7620">
            <a:solidFill>
              <a:srgbClr val="FFFFFF">
                <a:alpha val="24000"/>
              </a:srgbClr>
            </a:solidFill>
            <a:prstDash val="solid"/>
          </a:ln>
        </p:spPr>
      </p:sp>
      <p:sp>
        <p:nvSpPr>
          <p:cNvPr id="4" name="Shape 2"/>
          <p:cNvSpPr/>
          <p:nvPr/>
        </p:nvSpPr>
        <p:spPr>
          <a:xfrm>
            <a:off x="801410" y="1804630"/>
            <a:ext cx="13027581" cy="2598420"/>
          </a:xfrm>
          <a:prstGeom prst="rect">
            <a:avLst/>
          </a:prstGeom>
          <a:solidFill>
            <a:srgbClr val="FFFFFF">
              <a:alpha val="4000"/>
            </a:srgbClr>
          </a:solidFill>
          <a:ln/>
        </p:spPr>
      </p:sp>
      <p:sp>
        <p:nvSpPr>
          <p:cNvPr id="5" name="Text 3"/>
          <p:cNvSpPr/>
          <p:nvPr/>
        </p:nvSpPr>
        <p:spPr>
          <a:xfrm>
            <a:off x="1028224" y="1948339"/>
            <a:ext cx="6056352" cy="362903"/>
          </a:xfrm>
          <a:prstGeom prst="rect">
            <a:avLst/>
          </a:prstGeom>
          <a:noFill/>
          <a:ln/>
        </p:spPr>
        <p:txBody>
          <a:bodyPr wrap="none" lIns="0" tIns="0" rIns="0" bIns="0" rtlCol="0" anchor="t"/>
          <a:lstStyle/>
          <a:p>
            <a:pPr algn="l" indent="0" marL="0">
              <a:lnSpc>
                <a:spcPts val="2850"/>
              </a:lnSpc>
              <a:buNone/>
            </a:pPr>
            <a:endParaRPr lang="en-US" sz="1750" dirty="0"/>
          </a:p>
        </p:txBody>
      </p:sp>
      <p:sp>
        <p:nvSpPr>
          <p:cNvPr id="6" name="Text 4"/>
          <p:cNvSpPr/>
          <p:nvPr/>
        </p:nvSpPr>
        <p:spPr>
          <a:xfrm>
            <a:off x="1028224" y="2447330"/>
            <a:ext cx="6056352" cy="362903"/>
          </a:xfrm>
          <a:prstGeom prst="rect">
            <a:avLst/>
          </a:prstGeom>
          <a:noFill/>
          <a:ln/>
        </p:spPr>
        <p:txBody>
          <a:bodyPr wrap="none" lIns="0" tIns="0" rIns="0" bIns="0" rtlCol="0" anchor="t"/>
          <a:lstStyle/>
          <a:p>
            <a:pPr algn="l" indent="0" marL="0">
              <a:lnSpc>
                <a:spcPts val="2850"/>
              </a:lnSpc>
              <a:buNone/>
            </a:pPr>
            <a:r>
              <a:rPr lang="en-US" sz="1750" dirty="0">
                <a:solidFill>
                  <a:srgbClr val="E5E0DF"/>
                </a:solidFill>
                <a:latin typeface="Roboto" pitchFamily="34" charset="0"/>
                <a:ea typeface="Roboto" pitchFamily="34" charset="-122"/>
                <a:cs typeface="Roboto" pitchFamily="34" charset="-120"/>
              </a:rPr>
              <a:t>사용 기법 : Instruction tuning, Mlp head </a:t>
            </a:r>
            <a:endParaRPr lang="en-US" sz="1750" dirty="0"/>
          </a:p>
        </p:txBody>
      </p:sp>
      <p:sp>
        <p:nvSpPr>
          <p:cNvPr id="7" name="Text 5"/>
          <p:cNvSpPr/>
          <p:nvPr/>
        </p:nvSpPr>
        <p:spPr>
          <a:xfrm>
            <a:off x="1028224" y="2946321"/>
            <a:ext cx="6056352" cy="362903"/>
          </a:xfrm>
          <a:prstGeom prst="rect">
            <a:avLst/>
          </a:prstGeom>
          <a:noFill/>
          <a:ln/>
        </p:spPr>
        <p:txBody>
          <a:bodyPr wrap="none" lIns="0" tIns="0" rIns="0" bIns="0" rtlCol="0" anchor="t"/>
          <a:lstStyle/>
          <a:p>
            <a:pPr algn="l" indent="0" marL="0">
              <a:lnSpc>
                <a:spcPts val="2850"/>
              </a:lnSpc>
              <a:buNone/>
            </a:pPr>
            <a:r>
              <a:rPr lang="en-US" sz="1750" dirty="0">
                <a:solidFill>
                  <a:srgbClr val="E5E0DF"/>
                </a:solidFill>
                <a:latin typeface="Roboto" pitchFamily="34" charset="0"/>
                <a:ea typeface="Roboto" pitchFamily="34" charset="-122"/>
                <a:cs typeface="Roboto" pitchFamily="34" charset="-120"/>
              </a:rPr>
              <a:t>학습 소요 시간 : 300분 (A100기준)</a:t>
            </a:r>
            <a:endParaRPr lang="en-US" sz="1750" dirty="0"/>
          </a:p>
        </p:txBody>
      </p:sp>
      <p:sp>
        <p:nvSpPr>
          <p:cNvPr id="8" name="Text 6"/>
          <p:cNvSpPr/>
          <p:nvPr/>
        </p:nvSpPr>
        <p:spPr>
          <a:xfrm>
            <a:off x="7545824" y="1948339"/>
            <a:ext cx="6056352" cy="362903"/>
          </a:xfrm>
          <a:prstGeom prst="rect">
            <a:avLst/>
          </a:prstGeom>
          <a:noFill/>
          <a:ln/>
        </p:spPr>
        <p:txBody>
          <a:bodyPr wrap="none" lIns="0" tIns="0" rIns="0" bIns="0" rtlCol="0" anchor="t"/>
          <a:lstStyle/>
          <a:p>
            <a:pPr algn="l" indent="0" marL="0">
              <a:lnSpc>
                <a:spcPts val="2850"/>
              </a:lnSpc>
              <a:buNone/>
            </a:pPr>
            <a:r>
              <a:rPr lang="en-US" sz="1750" dirty="0">
                <a:solidFill>
                  <a:srgbClr val="E5E0DF"/>
                </a:solidFill>
                <a:latin typeface="Roboto" pitchFamily="34" charset="0"/>
                <a:ea typeface="Roboto" pitchFamily="34" charset="-122"/>
                <a:cs typeface="Roboto" pitchFamily="34" charset="-120"/>
              </a:rPr>
              <a:t>lnstruction tuning</a:t>
            </a:r>
            <a:endParaRPr lang="en-US" sz="1750" dirty="0"/>
          </a:p>
        </p:txBody>
      </p:sp>
      <p:pic>
        <p:nvPicPr>
          <p:cNvPr id="9" name="Image 0" descr="preencoded.png">    </p:cNvPr>
          <p:cNvPicPr>
            <a:picLocks noChangeAspect="1"/>
          </p:cNvPicPr>
          <p:nvPr/>
        </p:nvPicPr>
        <p:blipFill>
          <a:blip r:embed="rId1"/>
          <a:stretch>
            <a:fillRect/>
          </a:stretch>
        </p:blipFill>
        <p:spPr>
          <a:xfrm>
            <a:off x="7545824" y="2447330"/>
            <a:ext cx="6056352" cy="1313021"/>
          </a:xfrm>
          <a:prstGeom prst="rect">
            <a:avLst/>
          </a:prstGeom>
        </p:spPr>
      </p:pic>
      <p:sp>
        <p:nvSpPr>
          <p:cNvPr id="10" name="Text 7"/>
          <p:cNvSpPr/>
          <p:nvPr/>
        </p:nvSpPr>
        <p:spPr>
          <a:xfrm>
            <a:off x="7545824" y="3896439"/>
            <a:ext cx="6056352" cy="362903"/>
          </a:xfrm>
          <a:prstGeom prst="rect">
            <a:avLst/>
          </a:prstGeom>
          <a:noFill/>
          <a:ln/>
        </p:spPr>
        <p:txBody>
          <a:bodyPr wrap="none" lIns="0" tIns="0" rIns="0" bIns="0" rtlCol="0" anchor="t"/>
          <a:lstStyle/>
          <a:p>
            <a:pPr algn="l" indent="0" marL="0">
              <a:lnSpc>
                <a:spcPts val="2850"/>
              </a:lnSpc>
              <a:buNone/>
            </a:pPr>
            <a:endParaRPr lang="en-US" sz="1750" dirty="0"/>
          </a:p>
        </p:txBody>
      </p:sp>
      <p:sp>
        <p:nvSpPr>
          <p:cNvPr id="11" name="Shape 8"/>
          <p:cNvSpPr/>
          <p:nvPr/>
        </p:nvSpPr>
        <p:spPr>
          <a:xfrm>
            <a:off x="801410" y="4403050"/>
            <a:ext cx="13027581" cy="3184207"/>
          </a:xfrm>
          <a:prstGeom prst="rect">
            <a:avLst/>
          </a:prstGeom>
          <a:solidFill>
            <a:srgbClr val="000000">
              <a:alpha val="4000"/>
            </a:srgbClr>
          </a:solidFill>
          <a:ln/>
        </p:spPr>
      </p:sp>
      <p:sp>
        <p:nvSpPr>
          <p:cNvPr id="12" name="Text 9"/>
          <p:cNvSpPr/>
          <p:nvPr/>
        </p:nvSpPr>
        <p:spPr>
          <a:xfrm>
            <a:off x="1028224" y="4546759"/>
            <a:ext cx="6056352" cy="362903"/>
          </a:xfrm>
          <a:prstGeom prst="rect">
            <a:avLst/>
          </a:prstGeom>
          <a:noFill/>
          <a:ln/>
        </p:spPr>
        <p:txBody>
          <a:bodyPr wrap="none" lIns="0" tIns="0" rIns="0" bIns="0" rtlCol="0" anchor="t"/>
          <a:lstStyle/>
          <a:p>
            <a:pPr algn="l" indent="0" marL="0">
              <a:lnSpc>
                <a:spcPts val="2850"/>
              </a:lnSpc>
              <a:buNone/>
            </a:pPr>
            <a:r>
              <a:rPr lang="en-US" sz="1750" dirty="0">
                <a:solidFill>
                  <a:srgbClr val="E5E0DF"/>
                </a:solidFill>
                <a:latin typeface="Roboto" pitchFamily="34" charset="0"/>
                <a:ea typeface="Roboto" pitchFamily="34" charset="-122"/>
                <a:cs typeface="Roboto" pitchFamily="34" charset="-120"/>
              </a:rPr>
              <a:t>Best score </a:t>
            </a:r>
            <a:endParaRPr lang="en-US" sz="1750" dirty="0"/>
          </a:p>
        </p:txBody>
      </p:sp>
      <p:sp>
        <p:nvSpPr>
          <p:cNvPr id="13" name="Text 10"/>
          <p:cNvSpPr/>
          <p:nvPr/>
        </p:nvSpPr>
        <p:spPr>
          <a:xfrm>
            <a:off x="1028224" y="5045750"/>
            <a:ext cx="6056352" cy="362903"/>
          </a:xfrm>
          <a:prstGeom prst="rect">
            <a:avLst/>
          </a:prstGeom>
          <a:noFill/>
          <a:ln/>
        </p:spPr>
        <p:txBody>
          <a:bodyPr wrap="none" lIns="0" tIns="0" rIns="0" bIns="0" rtlCol="0" anchor="t"/>
          <a:lstStyle/>
          <a:p>
            <a:pPr algn="l" indent="0" marL="0">
              <a:lnSpc>
                <a:spcPts val="2850"/>
              </a:lnSpc>
              <a:buNone/>
            </a:pPr>
            <a:r>
              <a:rPr lang="en-US" sz="1750" dirty="0">
                <a:solidFill>
                  <a:srgbClr val="E5E0DF"/>
                </a:solidFill>
                <a:latin typeface="Roboto" pitchFamily="34" charset="0"/>
                <a:ea typeface="Roboto" pitchFamily="34" charset="-122"/>
                <a:cs typeface="Roboto" pitchFamily="34" charset="-120"/>
              </a:rPr>
              <a:t>                    - dev acc : 0.899 (base line: 0.897)</a:t>
            </a:r>
            <a:endParaRPr lang="en-US" sz="1750" dirty="0"/>
          </a:p>
        </p:txBody>
      </p:sp>
      <p:sp>
        <p:nvSpPr>
          <p:cNvPr id="14" name="Text 11"/>
          <p:cNvSpPr/>
          <p:nvPr/>
        </p:nvSpPr>
        <p:spPr>
          <a:xfrm>
            <a:off x="1028224" y="5544741"/>
            <a:ext cx="6056352" cy="362903"/>
          </a:xfrm>
          <a:prstGeom prst="rect">
            <a:avLst/>
          </a:prstGeom>
          <a:noFill/>
          <a:ln/>
        </p:spPr>
        <p:txBody>
          <a:bodyPr wrap="none" lIns="0" tIns="0" rIns="0" bIns="0" rtlCol="0" anchor="t"/>
          <a:lstStyle/>
          <a:p>
            <a:pPr algn="l" indent="0" marL="0">
              <a:lnSpc>
                <a:spcPts val="2850"/>
              </a:lnSpc>
              <a:buNone/>
            </a:pPr>
            <a:r>
              <a:rPr lang="en-US" sz="1750" dirty="0">
                <a:solidFill>
                  <a:srgbClr val="E5E0DF"/>
                </a:solidFill>
                <a:latin typeface="Roboto" pitchFamily="34" charset="0"/>
                <a:ea typeface="Roboto" pitchFamily="34" charset="-122"/>
                <a:cs typeface="Roboto" pitchFamily="34" charset="-120"/>
              </a:rPr>
              <a:t>                    -  Weighted F1 Score: 0.899</a:t>
            </a:r>
            <a:endParaRPr lang="en-US" sz="1750" dirty="0"/>
          </a:p>
        </p:txBody>
      </p:sp>
      <p:pic>
        <p:nvPicPr>
          <p:cNvPr id="15" name="Image 1" descr="preencoded.png">    </p:cNvPr>
          <p:cNvPicPr>
            <a:picLocks noChangeAspect="1"/>
          </p:cNvPicPr>
          <p:nvPr/>
        </p:nvPicPr>
        <p:blipFill>
          <a:blip r:embed="rId2"/>
          <a:stretch>
            <a:fillRect/>
          </a:stretch>
        </p:blipFill>
        <p:spPr>
          <a:xfrm>
            <a:off x="1028224" y="6043732"/>
            <a:ext cx="6056352" cy="1399818"/>
          </a:xfrm>
          <a:prstGeom prst="rect">
            <a:avLst/>
          </a:prstGeom>
        </p:spPr>
      </p:pic>
      <p:sp>
        <p:nvSpPr>
          <p:cNvPr id="16" name="Text 12"/>
          <p:cNvSpPr/>
          <p:nvPr/>
        </p:nvSpPr>
        <p:spPr>
          <a:xfrm>
            <a:off x="7545824" y="4546759"/>
            <a:ext cx="6056352" cy="362903"/>
          </a:xfrm>
          <a:prstGeom prst="rect">
            <a:avLst/>
          </a:prstGeom>
          <a:noFill/>
          <a:ln/>
        </p:spPr>
        <p:txBody>
          <a:bodyPr wrap="none" lIns="0" tIns="0" rIns="0" bIns="0" rtlCol="0" anchor="t"/>
          <a:lstStyle/>
          <a:p>
            <a:pPr algn="l" indent="0" marL="0">
              <a:lnSpc>
                <a:spcPts val="2850"/>
              </a:lnSpc>
              <a:buNone/>
            </a:pPr>
            <a:r>
              <a:rPr lang="en-US" sz="1750" dirty="0">
                <a:solidFill>
                  <a:srgbClr val="E5E0DF"/>
                </a:solidFill>
                <a:latin typeface="Roboto" pitchFamily="34" charset="0"/>
                <a:ea typeface="Roboto" pitchFamily="34" charset="-122"/>
                <a:cs typeface="Roboto" pitchFamily="34" charset="-120"/>
              </a:rPr>
              <a:t>Mlp head + full fine tuning</a:t>
            </a:r>
            <a:endParaRPr lang="en-US" sz="1750" dirty="0"/>
          </a:p>
        </p:txBody>
      </p:sp>
      <p:pic>
        <p:nvPicPr>
          <p:cNvPr id="17" name="Image 2" descr="preencoded.png">    </p:cNvPr>
          <p:cNvPicPr>
            <a:picLocks noChangeAspect="1"/>
          </p:cNvPicPr>
          <p:nvPr/>
        </p:nvPicPr>
        <p:blipFill>
          <a:blip r:embed="rId3"/>
          <a:stretch>
            <a:fillRect/>
          </a:stretch>
        </p:blipFill>
        <p:spPr>
          <a:xfrm>
            <a:off x="7545824" y="5045750"/>
            <a:ext cx="6056352" cy="889040"/>
          </a:xfrm>
          <a:prstGeom prst="rect">
            <a:avLst/>
          </a:prstGeom>
        </p:spPr>
      </p:pic>
      <p:sp>
        <p:nvSpPr>
          <p:cNvPr id="18" name="Text 13"/>
          <p:cNvSpPr/>
          <p:nvPr/>
        </p:nvSpPr>
        <p:spPr>
          <a:xfrm>
            <a:off x="7545824" y="6070878"/>
            <a:ext cx="6056352" cy="362903"/>
          </a:xfrm>
          <a:prstGeom prst="rect">
            <a:avLst/>
          </a:prstGeom>
          <a:noFill/>
          <a:ln/>
        </p:spPr>
        <p:txBody>
          <a:bodyPr wrap="none" lIns="0" tIns="0" rIns="0" bIns="0" rtlCol="0" anchor="t"/>
          <a:lstStyle/>
          <a:p>
            <a:pPr algn="l" indent="0" marL="0">
              <a:lnSpc>
                <a:spcPts val="2850"/>
              </a:lnSpc>
              <a:buNone/>
            </a:pP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77954" y="611267"/>
            <a:ext cx="5557480" cy="694730"/>
          </a:xfrm>
          <a:prstGeom prst="rect">
            <a:avLst/>
          </a:prstGeom>
          <a:noFill/>
          <a:ln/>
        </p:spPr>
        <p:txBody>
          <a:bodyPr wrap="none" lIns="0" tIns="0" rIns="0" bIns="0" rtlCol="0" anchor="t"/>
          <a:lstStyle/>
          <a:p>
            <a:pPr algn="l" indent="0" marL="0">
              <a:lnSpc>
                <a:spcPts val="5450"/>
              </a:lnSpc>
              <a:buNone/>
            </a:pPr>
            <a:r>
              <a:rPr lang="en-US" sz="4350" dirty="0">
                <a:solidFill>
                  <a:srgbClr val="FFFFFF"/>
                </a:solidFill>
                <a:latin typeface="Roboto Mono Medium" pitchFamily="34" charset="0"/>
                <a:ea typeface="Roboto Mono Medium" pitchFamily="34" charset="-122"/>
                <a:cs typeface="Roboto Mono Medium" pitchFamily="34" charset="-120"/>
              </a:rPr>
              <a:t>freeze</a:t>
            </a:r>
            <a:endParaRPr lang="en-US" sz="4350" dirty="0"/>
          </a:p>
        </p:txBody>
      </p:sp>
      <p:sp>
        <p:nvSpPr>
          <p:cNvPr id="3" name="Text 1"/>
          <p:cNvSpPr/>
          <p:nvPr/>
        </p:nvSpPr>
        <p:spPr>
          <a:xfrm>
            <a:off x="777954" y="1839397"/>
            <a:ext cx="6266140" cy="355640"/>
          </a:xfrm>
          <a:prstGeom prst="rect">
            <a:avLst/>
          </a:prstGeom>
          <a:noFill/>
          <a:ln/>
        </p:spPr>
        <p:txBody>
          <a:bodyPr wrap="none" lIns="0" tIns="0" rIns="0" bIns="0" rtlCol="0" anchor="t"/>
          <a:lstStyle/>
          <a:p>
            <a:pPr algn="l" indent="0" marL="0">
              <a:lnSpc>
                <a:spcPts val="2800"/>
              </a:lnSpc>
              <a:buNone/>
            </a:pPr>
            <a:r>
              <a:rPr lang="en-US" sz="1750" dirty="0">
                <a:solidFill>
                  <a:srgbClr val="E5E0DF"/>
                </a:solidFill>
                <a:latin typeface="Roboto" pitchFamily="34" charset="0"/>
                <a:ea typeface="Roboto" pitchFamily="34" charset="-122"/>
                <a:cs typeface="Roboto" pitchFamily="34" charset="-120"/>
              </a:rPr>
              <a:t>Try</a:t>
            </a:r>
            <a:endParaRPr lang="en-US" sz="1750" dirty="0"/>
          </a:p>
        </p:txBody>
      </p:sp>
      <p:sp>
        <p:nvSpPr>
          <p:cNvPr id="4" name="Text 2"/>
          <p:cNvSpPr/>
          <p:nvPr/>
        </p:nvSpPr>
        <p:spPr>
          <a:xfrm>
            <a:off x="777954" y="2395061"/>
            <a:ext cx="6266140" cy="355640"/>
          </a:xfrm>
          <a:prstGeom prst="rect">
            <a:avLst/>
          </a:prstGeom>
          <a:noFill/>
          <a:ln/>
        </p:spPr>
        <p:txBody>
          <a:bodyPr wrap="none" lIns="0" tIns="0" rIns="0" bIns="0" rtlCol="0" anchor="t"/>
          <a:lstStyle/>
          <a:p>
            <a:pPr algn="l" indent="0" marL="0">
              <a:lnSpc>
                <a:spcPts val="2800"/>
              </a:lnSpc>
              <a:buNone/>
            </a:pPr>
            <a:r>
              <a:rPr lang="en-US" sz="1750" b="1" dirty="0">
                <a:solidFill>
                  <a:srgbClr val="E5E0DF"/>
                </a:solidFill>
                <a:latin typeface="Roboto" pitchFamily="34" charset="0"/>
                <a:ea typeface="Roboto" pitchFamily="34" charset="-122"/>
                <a:cs typeface="Roboto" pitchFamily="34" charset="-120"/>
              </a:rPr>
              <a:t>학습 전략 및 단계적 실험 구성</a:t>
            </a:r>
            <a:endParaRPr lang="en-US" sz="1750" dirty="0"/>
          </a:p>
        </p:txBody>
      </p:sp>
      <p:sp>
        <p:nvSpPr>
          <p:cNvPr id="5" name="Text 3"/>
          <p:cNvSpPr/>
          <p:nvPr/>
        </p:nvSpPr>
        <p:spPr>
          <a:xfrm>
            <a:off x="777954" y="2950726"/>
            <a:ext cx="6266140" cy="2845118"/>
          </a:xfrm>
          <a:prstGeom prst="rect">
            <a:avLst/>
          </a:prstGeom>
          <a:noFill/>
          <a:ln/>
        </p:spPr>
        <p:txBody>
          <a:bodyPr wrap="square" lIns="0" tIns="0" rIns="0" bIns="0" rtlCol="0" anchor="t"/>
          <a:lstStyle/>
          <a:p>
            <a:pPr algn="l" indent="0" marL="0">
              <a:lnSpc>
                <a:spcPts val="2800"/>
              </a:lnSpc>
              <a:buNone/>
            </a:pPr>
            <a:r>
              <a:rPr lang="en-US" sz="1750" dirty="0">
                <a:solidFill>
                  <a:srgbClr val="E5E0DF"/>
                </a:solidFill>
                <a:latin typeface="Roboto" pitchFamily="34" charset="0"/>
                <a:ea typeface="Roboto" pitchFamily="34" charset="-122"/>
                <a:cs typeface="Roboto" pitchFamily="34" charset="-120"/>
              </a:rPr>
              <a:t>본 실험에서는 모델 안정성과 자원 효율성, 그리고 성능 향상을 모두 고려하여, 단계적인 학습 전략을 설계하였다. 초기 5 epoch 동안은 GPT-2 본체는 고정(freeze) 한 채, MLP Head만 학습하였다. Head를 충분히 학습한 후 후반부 5 epoch는 GPT-2 전체를 fine-tune하도록 하였다.</a:t>
            </a:r>
            <a:pPr algn="l" indent="0" marL="0">
              <a:lnSpc>
                <a:spcPts val="2800"/>
              </a:lnSpc>
              <a:buNone/>
            </a:pPr>
            <a:pPr algn="l" indent="0" marL="0">
              <a:lnSpc>
                <a:spcPts val="2800"/>
              </a:lnSpc>
              <a:buNone/>
            </a:pPr>
            <a:r>
              <a:rPr lang="en-US" sz="1750" dirty="0">
                <a:solidFill>
                  <a:srgbClr val="E5E0DF"/>
                </a:solidFill>
                <a:latin typeface="Roboto" pitchFamily="34" charset="0"/>
                <a:ea typeface="Roboto" pitchFamily="34" charset="-122"/>
                <a:cs typeface="Roboto" pitchFamily="34" charset="-120"/>
              </a:rPr>
              <a:t>이 방식은 GPU 메모리 사용량을 줄이고, 사전 학습된 GPT-2 표현력을 그대로 활용하면서 빠르게 수렴 가능할 것이라는 기대 아래 설계된 전략이었다.</a:t>
            </a:r>
            <a:endParaRPr lang="en-US" sz="1750" dirty="0"/>
          </a:p>
        </p:txBody>
      </p:sp>
      <p:sp>
        <p:nvSpPr>
          <p:cNvPr id="6" name="Text 4"/>
          <p:cNvSpPr/>
          <p:nvPr/>
        </p:nvSpPr>
        <p:spPr>
          <a:xfrm>
            <a:off x="7593925" y="1839397"/>
            <a:ext cx="6266140" cy="355640"/>
          </a:xfrm>
          <a:prstGeom prst="rect">
            <a:avLst/>
          </a:prstGeom>
          <a:noFill/>
          <a:ln/>
        </p:spPr>
        <p:txBody>
          <a:bodyPr wrap="none" lIns="0" tIns="0" rIns="0" bIns="0" rtlCol="0" anchor="t"/>
          <a:lstStyle/>
          <a:p>
            <a:pPr algn="l" indent="0" marL="0">
              <a:lnSpc>
                <a:spcPts val="2800"/>
              </a:lnSpc>
              <a:buNone/>
            </a:pPr>
            <a:r>
              <a:rPr lang="en-US" sz="1750" dirty="0">
                <a:solidFill>
                  <a:srgbClr val="E5E0DF"/>
                </a:solidFill>
                <a:latin typeface="Roboto" pitchFamily="34" charset="0"/>
                <a:ea typeface="Roboto" pitchFamily="34" charset="-122"/>
                <a:cs typeface="Roboto" pitchFamily="34" charset="-120"/>
              </a:rPr>
              <a:t>Result</a:t>
            </a:r>
            <a:endParaRPr lang="en-US" sz="1750" dirty="0"/>
          </a:p>
        </p:txBody>
      </p:sp>
      <p:sp>
        <p:nvSpPr>
          <p:cNvPr id="7" name="Text 5"/>
          <p:cNvSpPr/>
          <p:nvPr/>
        </p:nvSpPr>
        <p:spPr>
          <a:xfrm>
            <a:off x="7593925" y="2395061"/>
            <a:ext cx="6266140" cy="355640"/>
          </a:xfrm>
          <a:prstGeom prst="rect">
            <a:avLst/>
          </a:prstGeom>
          <a:noFill/>
          <a:ln/>
        </p:spPr>
        <p:txBody>
          <a:bodyPr wrap="none" lIns="0" tIns="0" rIns="0" bIns="0" rtlCol="0" anchor="t"/>
          <a:lstStyle/>
          <a:p>
            <a:pPr algn="l" indent="0" marL="0">
              <a:lnSpc>
                <a:spcPts val="2800"/>
              </a:lnSpc>
              <a:buNone/>
            </a:pPr>
            <a:endParaRPr lang="en-US" sz="1750" dirty="0"/>
          </a:p>
        </p:txBody>
      </p:sp>
      <p:sp>
        <p:nvSpPr>
          <p:cNvPr id="8" name="Text 6"/>
          <p:cNvSpPr/>
          <p:nvPr/>
        </p:nvSpPr>
        <p:spPr>
          <a:xfrm>
            <a:off x="7593925" y="2950726"/>
            <a:ext cx="6266140" cy="1778198"/>
          </a:xfrm>
          <a:prstGeom prst="rect">
            <a:avLst/>
          </a:prstGeom>
          <a:noFill/>
          <a:ln/>
        </p:spPr>
        <p:txBody>
          <a:bodyPr wrap="square" lIns="0" tIns="0" rIns="0" bIns="0" rtlCol="0" anchor="t"/>
          <a:lstStyle/>
          <a:p>
            <a:pPr algn="l" indent="0" marL="0">
              <a:lnSpc>
                <a:spcPts val="2800"/>
              </a:lnSpc>
              <a:buNone/>
            </a:pPr>
            <a:r>
              <a:rPr lang="en-US" sz="1750" dirty="0">
                <a:solidFill>
                  <a:srgbClr val="E5E0DF"/>
                </a:solidFill>
                <a:latin typeface="Roboto" pitchFamily="34" charset="0"/>
                <a:ea typeface="Roboto" pitchFamily="34" charset="-122"/>
                <a:cs typeface="Roboto" pitchFamily="34" charset="-120"/>
              </a:rPr>
              <a:t>초기 4개의 epoch 동안 GPT-2를 고정하고 MLP head만 학습했을 때, Dev Accuracy는 최대 0.711에 그쳤다.</a:t>
            </a:r>
            <a:pPr algn="l" indent="0" marL="0">
              <a:lnSpc>
                <a:spcPts val="2800"/>
              </a:lnSpc>
              <a:buNone/>
            </a:pPr>
            <a:pPr algn="l" indent="0" marL="0">
              <a:lnSpc>
                <a:spcPts val="2800"/>
              </a:lnSpc>
              <a:buNone/>
            </a:pPr>
            <a:r>
              <a:rPr lang="en-US" sz="1750" dirty="0">
                <a:solidFill>
                  <a:srgbClr val="E5E0DF"/>
                </a:solidFill>
                <a:latin typeface="Roboto" pitchFamily="34" charset="0"/>
                <a:ea typeface="Roboto" pitchFamily="34" charset="-122"/>
                <a:cs typeface="Roboto" pitchFamily="34" charset="-120"/>
              </a:rPr>
              <a:t>이후 5번째 epoch부터 GPT-2 전체를 unfreeze 하여 Full Fine-tuning을 적용하자 성능이 급격히 향상되었으며, Epoch 9에서 Dev Accuracy는 0.891, 최종 Dev Accuracy는 0.892를 기록하였다.</a:t>
            </a:r>
            <a:endParaRPr lang="en-US" sz="1750" dirty="0"/>
          </a:p>
        </p:txBody>
      </p:sp>
      <p:sp>
        <p:nvSpPr>
          <p:cNvPr id="9" name="Text 7"/>
          <p:cNvSpPr/>
          <p:nvPr/>
        </p:nvSpPr>
        <p:spPr>
          <a:xfrm>
            <a:off x="7593925" y="4928949"/>
            <a:ext cx="6266140" cy="2489478"/>
          </a:xfrm>
          <a:prstGeom prst="rect">
            <a:avLst/>
          </a:prstGeom>
          <a:noFill/>
          <a:ln/>
        </p:spPr>
        <p:txBody>
          <a:bodyPr wrap="square" lIns="0" tIns="0" rIns="0" bIns="0" rtlCol="0" anchor="t"/>
          <a:lstStyle/>
          <a:p>
            <a:pPr algn="l" indent="0" marL="0">
              <a:lnSpc>
                <a:spcPts val="2800"/>
              </a:lnSpc>
              <a:buNone/>
            </a:pPr>
            <a:r>
              <a:rPr lang="en-US" sz="1750" dirty="0">
                <a:solidFill>
                  <a:srgbClr val="E5E0DF"/>
                </a:solidFill>
                <a:latin typeface="Roboto" pitchFamily="34" charset="0"/>
                <a:ea typeface="Roboto" pitchFamily="34" charset="-122"/>
                <a:cs typeface="Roboto" pitchFamily="34" charset="-120"/>
              </a:rPr>
              <a:t>이는 GPT-2의 사전 학습된 표현을 그대로 유지한 채, 출력 부분만 조정하는 방식으로는 문장 간의 미묘한 의미 차이나 문맥적 관계를 충분히 학습하기 어려웠기 때문으로 보인다. 특히 Paraphrase Detection과 같은 정밀한 의미 판단 과제에서는, 전체 모델의 표현 공간을 조정해야만 확실한 분류가 가능하다는 한계를 드러낸 결과였다. 이러한 결과는 Full Fine-tuning이 모델의 표현력을 보다 효과적으로 조정하여 정확도 향상에 직접적인 기여를 했음을 보여준다.</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62119" y="598765"/>
            <a:ext cx="4355068" cy="544354"/>
          </a:xfrm>
          <a:prstGeom prst="rect">
            <a:avLst/>
          </a:prstGeom>
          <a:noFill/>
          <a:ln/>
        </p:spPr>
        <p:txBody>
          <a:bodyPr wrap="none" lIns="0" tIns="0" rIns="0" bIns="0" rtlCol="0" anchor="t"/>
          <a:lstStyle/>
          <a:p>
            <a:pPr algn="l" indent="0" marL="0">
              <a:lnSpc>
                <a:spcPts val="4250"/>
              </a:lnSpc>
              <a:buNone/>
            </a:pPr>
            <a:r>
              <a:rPr lang="en-US" sz="3400" dirty="0">
                <a:solidFill>
                  <a:srgbClr val="FFFFFF"/>
                </a:solidFill>
                <a:latin typeface="Roboto Mono Medium" pitchFamily="34" charset="0"/>
                <a:ea typeface="Roboto Mono Medium" pitchFamily="34" charset="-122"/>
                <a:cs typeface="Roboto Mono Medium" pitchFamily="34" charset="-120"/>
              </a:rPr>
              <a:t>confusion Matrix</a:t>
            </a:r>
            <a:endParaRPr lang="en-US" sz="3400" dirty="0"/>
          </a:p>
        </p:txBody>
      </p:sp>
      <p:pic>
        <p:nvPicPr>
          <p:cNvPr id="3" name="Image 0" descr="preencoded.png">    </p:cNvPr>
          <p:cNvPicPr>
            <a:picLocks noChangeAspect="1"/>
          </p:cNvPicPr>
          <p:nvPr/>
        </p:nvPicPr>
        <p:blipFill>
          <a:blip r:embed="rId1"/>
          <a:stretch>
            <a:fillRect/>
          </a:stretch>
        </p:blipFill>
        <p:spPr>
          <a:xfrm>
            <a:off x="762119" y="1632942"/>
            <a:ext cx="6287453" cy="5466159"/>
          </a:xfrm>
          <a:prstGeom prst="rect">
            <a:avLst/>
          </a:prstGeom>
        </p:spPr>
      </p:pic>
      <p:sp>
        <p:nvSpPr>
          <p:cNvPr id="4" name="Text 1"/>
          <p:cNvSpPr/>
          <p:nvPr/>
        </p:nvSpPr>
        <p:spPr>
          <a:xfrm>
            <a:off x="762119" y="7344013"/>
            <a:ext cx="6287453" cy="348377"/>
          </a:xfrm>
          <a:prstGeom prst="rect">
            <a:avLst/>
          </a:prstGeom>
          <a:noFill/>
          <a:ln/>
        </p:spPr>
        <p:txBody>
          <a:bodyPr wrap="none" lIns="0" tIns="0" rIns="0" bIns="0" rtlCol="0" anchor="t"/>
          <a:lstStyle/>
          <a:p>
            <a:pPr algn="l" indent="0" marL="0">
              <a:lnSpc>
                <a:spcPts val="2700"/>
              </a:lnSpc>
              <a:buNone/>
            </a:pPr>
            <a:endParaRPr lang="en-US" sz="1700" dirty="0"/>
          </a:p>
        </p:txBody>
      </p:sp>
      <p:sp>
        <p:nvSpPr>
          <p:cNvPr id="5" name="Text 2"/>
          <p:cNvSpPr/>
          <p:nvPr/>
        </p:nvSpPr>
        <p:spPr>
          <a:xfrm>
            <a:off x="7588448" y="1584008"/>
            <a:ext cx="6287453" cy="435412"/>
          </a:xfrm>
          <a:prstGeom prst="rect">
            <a:avLst/>
          </a:prstGeom>
          <a:noFill/>
          <a:ln/>
        </p:spPr>
        <p:txBody>
          <a:bodyPr wrap="none" lIns="0" tIns="0" rIns="0" bIns="0" rtlCol="0" anchor="t"/>
          <a:lstStyle/>
          <a:p>
            <a:pPr algn="l" indent="0" marL="0">
              <a:lnSpc>
                <a:spcPts val="3400"/>
              </a:lnSpc>
              <a:buNone/>
            </a:pPr>
            <a:r>
              <a:rPr lang="en-US" sz="2100" dirty="0">
                <a:solidFill>
                  <a:srgbClr val="E5E0DF"/>
                </a:solidFill>
                <a:latin typeface="Roboto" pitchFamily="34" charset="0"/>
                <a:ea typeface="Roboto" pitchFamily="34" charset="-122"/>
                <a:cs typeface="Roboto" pitchFamily="34" charset="-120"/>
              </a:rPr>
              <a:t>FN →  1,610건,</a:t>
            </a:r>
            <a:endParaRPr lang="en-US" sz="2100" dirty="0"/>
          </a:p>
        </p:txBody>
      </p:sp>
      <p:sp>
        <p:nvSpPr>
          <p:cNvPr id="6" name="Text 3"/>
          <p:cNvSpPr/>
          <p:nvPr/>
        </p:nvSpPr>
        <p:spPr>
          <a:xfrm>
            <a:off x="7588448" y="2215396"/>
            <a:ext cx="6287453" cy="435412"/>
          </a:xfrm>
          <a:prstGeom prst="rect">
            <a:avLst/>
          </a:prstGeom>
          <a:noFill/>
          <a:ln/>
        </p:spPr>
        <p:txBody>
          <a:bodyPr wrap="none" lIns="0" tIns="0" rIns="0" bIns="0" rtlCol="0" anchor="t"/>
          <a:lstStyle/>
          <a:p>
            <a:pPr algn="l" indent="0" marL="0">
              <a:lnSpc>
                <a:spcPts val="3400"/>
              </a:lnSpc>
              <a:buNone/>
            </a:pPr>
            <a:r>
              <a:rPr lang="en-US" sz="2100" dirty="0">
                <a:solidFill>
                  <a:srgbClr val="E5E0DF"/>
                </a:solidFill>
                <a:latin typeface="Roboto" pitchFamily="34" charset="0"/>
                <a:ea typeface="Roboto" pitchFamily="34" charset="-122"/>
                <a:cs typeface="Roboto" pitchFamily="34" charset="-120"/>
              </a:rPr>
              <a:t>FP →  2,485건</a:t>
            </a:r>
            <a:endParaRPr lang="en-US" sz="2100" dirty="0"/>
          </a:p>
        </p:txBody>
      </p:sp>
      <p:sp>
        <p:nvSpPr>
          <p:cNvPr id="7" name="Text 4"/>
          <p:cNvSpPr/>
          <p:nvPr/>
        </p:nvSpPr>
        <p:spPr>
          <a:xfrm>
            <a:off x="7588448" y="2846784"/>
            <a:ext cx="6287453" cy="435412"/>
          </a:xfrm>
          <a:prstGeom prst="rect">
            <a:avLst/>
          </a:prstGeom>
          <a:noFill/>
          <a:ln/>
        </p:spPr>
        <p:txBody>
          <a:bodyPr wrap="none" lIns="0" tIns="0" rIns="0" bIns="0" rtlCol="0" anchor="t"/>
          <a:lstStyle/>
          <a:p>
            <a:pPr algn="l" indent="0" marL="0">
              <a:lnSpc>
                <a:spcPts val="3400"/>
              </a:lnSpc>
              <a:buNone/>
            </a:pPr>
            <a:r>
              <a:rPr lang="en-US" sz="2100" dirty="0">
                <a:solidFill>
                  <a:srgbClr val="E5E0DF"/>
                </a:solidFill>
                <a:latin typeface="Roboto" pitchFamily="34" charset="0"/>
                <a:ea typeface="Roboto" pitchFamily="34" charset="-122"/>
                <a:cs typeface="Roboto" pitchFamily="34" charset="-120"/>
              </a:rPr>
              <a:t>전체적으로 FP가 더 많은 경향을 보인다.</a:t>
            </a:r>
            <a:endParaRPr lang="en-US" sz="2100" dirty="0"/>
          </a:p>
        </p:txBody>
      </p:sp>
      <p:sp>
        <p:nvSpPr>
          <p:cNvPr id="8" name="Text 5"/>
          <p:cNvSpPr/>
          <p:nvPr/>
        </p:nvSpPr>
        <p:spPr>
          <a:xfrm>
            <a:off x="7588448" y="3478173"/>
            <a:ext cx="6287453" cy="1306235"/>
          </a:xfrm>
          <a:prstGeom prst="rect">
            <a:avLst/>
          </a:prstGeom>
          <a:noFill/>
          <a:ln/>
        </p:spPr>
        <p:txBody>
          <a:bodyPr wrap="square" lIns="0" tIns="0" rIns="0" bIns="0" rtlCol="0" anchor="t"/>
          <a:lstStyle/>
          <a:p>
            <a:pPr algn="l" indent="0" marL="0">
              <a:lnSpc>
                <a:spcPts val="3400"/>
              </a:lnSpc>
              <a:buNone/>
            </a:pPr>
            <a:r>
              <a:rPr lang="en-US" sz="2100" dirty="0">
                <a:solidFill>
                  <a:srgbClr val="E5E0DF"/>
                </a:solidFill>
                <a:latin typeface="Roboto" pitchFamily="34" charset="0"/>
                <a:ea typeface="Roboto" pitchFamily="34" charset="-122"/>
                <a:cs typeface="Roboto" pitchFamily="34" charset="-120"/>
              </a:rPr>
              <a:t> 이는 모델이 일부 not paraphrase 문장을 과도하게 유사하다고 판단하는 경향이 있음을 의미하며, Precision 대비 Recall을 더 개선할 여지가 있는 구조임을 시사한다.</a:t>
            </a:r>
            <a:endParaRPr lang="en-US" sz="2100" dirty="0"/>
          </a:p>
        </p:txBody>
      </p:sp>
      <p:sp>
        <p:nvSpPr>
          <p:cNvPr id="9" name="Text 6"/>
          <p:cNvSpPr/>
          <p:nvPr/>
        </p:nvSpPr>
        <p:spPr>
          <a:xfrm>
            <a:off x="7588448" y="4980384"/>
            <a:ext cx="6287453" cy="348377"/>
          </a:xfrm>
          <a:prstGeom prst="rect">
            <a:avLst/>
          </a:prstGeom>
          <a:noFill/>
          <a:ln/>
        </p:spPr>
        <p:txBody>
          <a:bodyPr wrap="none" lIns="0" tIns="0" rIns="0" bIns="0" rtlCol="0" anchor="t"/>
          <a:lstStyle/>
          <a:p>
            <a:pPr algn="l" indent="0" marL="0">
              <a:lnSpc>
                <a:spcPts val="2700"/>
              </a:lnSpc>
              <a:buNone/>
            </a:pP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512332"/>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FFFFFF"/>
                </a:solidFill>
                <a:latin typeface="Roboto Mono Medium" pitchFamily="34" charset="0"/>
                <a:ea typeface="Roboto Mono Medium" pitchFamily="34" charset="-122"/>
                <a:cs typeface="Roboto Mono Medium" pitchFamily="34" charset="-120"/>
              </a:rPr>
              <a:t>오답 분석</a:t>
            </a:r>
            <a:endParaRPr lang="en-US" sz="4450" dirty="0"/>
          </a:p>
        </p:txBody>
      </p:sp>
      <p:sp>
        <p:nvSpPr>
          <p:cNvPr id="3" name="Text 1"/>
          <p:cNvSpPr/>
          <p:nvPr/>
        </p:nvSpPr>
        <p:spPr>
          <a:xfrm>
            <a:off x="793790" y="2788087"/>
            <a:ext cx="6244709" cy="708660"/>
          </a:xfrm>
          <a:prstGeom prst="rect">
            <a:avLst/>
          </a:prstGeom>
          <a:noFill/>
          <a:ln/>
        </p:spPr>
        <p:txBody>
          <a:bodyPr wrap="square" lIns="0" tIns="0" rIns="0" bIns="0" rtlCol="0" anchor="t"/>
          <a:lstStyle/>
          <a:p>
            <a:pPr algn="l" indent="0" marL="0">
              <a:lnSpc>
                <a:spcPts val="2750"/>
              </a:lnSpc>
              <a:buNone/>
            </a:pPr>
            <a:r>
              <a:rPr lang="en-US" sz="2200" dirty="0">
                <a:solidFill>
                  <a:srgbClr val="FFFFFF"/>
                </a:solidFill>
                <a:latin typeface="Roboto Mono Medium" pitchFamily="34" charset="0"/>
                <a:ea typeface="Roboto Mono Medium" pitchFamily="34" charset="-122"/>
                <a:cs typeface="Roboto Mono Medium" pitchFamily="34" charset="-120"/>
              </a:rPr>
              <a:t>예측: Paraphrase (1), 실제: Not Paraphrase (0)</a:t>
            </a:r>
            <a:endParaRPr lang="en-US" sz="2200" dirty="0"/>
          </a:p>
        </p:txBody>
      </p:sp>
      <p:sp>
        <p:nvSpPr>
          <p:cNvPr id="4" name="Text 2"/>
          <p:cNvSpPr/>
          <p:nvPr/>
        </p:nvSpPr>
        <p:spPr>
          <a:xfrm>
            <a:off x="793790" y="3723561"/>
            <a:ext cx="6244709" cy="725805"/>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Roboto" pitchFamily="34" charset="0"/>
                <a:ea typeface="Roboto" pitchFamily="34" charset="-122"/>
                <a:cs typeface="Roboto" pitchFamily="34" charset="-120"/>
              </a:rPr>
              <a:t>-  모델이 유사하지 않은 문장을 잘못 유사하다고 판단한 사례 (False Positive)</a:t>
            </a:r>
            <a:endParaRPr lang="en-US" sz="1750" dirty="0"/>
          </a:p>
        </p:txBody>
      </p:sp>
      <p:sp>
        <p:nvSpPr>
          <p:cNvPr id="5" name="Text 3"/>
          <p:cNvSpPr/>
          <p:nvPr/>
        </p:nvSpPr>
        <p:spPr>
          <a:xfrm>
            <a:off x="793790" y="4653439"/>
            <a:ext cx="6244709" cy="362903"/>
          </a:xfrm>
          <a:prstGeom prst="rect">
            <a:avLst/>
          </a:prstGeom>
          <a:noFill/>
          <a:ln/>
        </p:spPr>
        <p:txBody>
          <a:bodyPr wrap="none" lIns="0" tIns="0" rIns="0" bIns="0" rtlCol="0" anchor="t"/>
          <a:lstStyle/>
          <a:p>
            <a:pPr algn="l" indent="0" marL="0">
              <a:lnSpc>
                <a:spcPts val="2850"/>
              </a:lnSpc>
              <a:buNone/>
            </a:pPr>
            <a:r>
              <a:rPr lang="en-US" sz="1750" dirty="0">
                <a:solidFill>
                  <a:srgbClr val="E5E0DF"/>
                </a:solidFill>
                <a:latin typeface="Roboto" pitchFamily="34" charset="0"/>
                <a:ea typeface="Roboto" pitchFamily="34" charset="-122"/>
                <a:cs typeface="Roboto" pitchFamily="34" charset="-120"/>
              </a:rPr>
              <a:t>문장1: </a:t>
            </a:r>
            <a:pPr algn="l" indent="0" marL="0">
              <a:lnSpc>
                <a:spcPts val="2850"/>
              </a:lnSpc>
              <a:buNone/>
            </a:pPr>
            <a:r>
              <a:rPr lang="en-US" sz="1750" i="1" dirty="0">
                <a:solidFill>
                  <a:srgbClr val="E5E0DF"/>
                </a:solidFill>
                <a:latin typeface="Roboto" pitchFamily="34" charset="0"/>
                <a:ea typeface="Roboto" pitchFamily="34" charset="-122"/>
                <a:cs typeface="Roboto" pitchFamily="34" charset="-120"/>
              </a:rPr>
              <a:t>How long can you leave cooked chicken wings out?</a:t>
            </a:r>
            <a:endParaRPr lang="en-US" sz="1750" dirty="0"/>
          </a:p>
        </p:txBody>
      </p:sp>
      <p:sp>
        <p:nvSpPr>
          <p:cNvPr id="6" name="Text 4"/>
          <p:cNvSpPr/>
          <p:nvPr/>
        </p:nvSpPr>
        <p:spPr>
          <a:xfrm>
            <a:off x="793790" y="5220414"/>
            <a:ext cx="6244709" cy="362903"/>
          </a:xfrm>
          <a:prstGeom prst="rect">
            <a:avLst/>
          </a:prstGeom>
          <a:noFill/>
          <a:ln/>
        </p:spPr>
        <p:txBody>
          <a:bodyPr wrap="none" lIns="0" tIns="0" rIns="0" bIns="0" rtlCol="0" anchor="t"/>
          <a:lstStyle/>
          <a:p>
            <a:pPr algn="l" indent="0" marL="0">
              <a:lnSpc>
                <a:spcPts val="2850"/>
              </a:lnSpc>
              <a:buNone/>
            </a:pPr>
            <a:r>
              <a:rPr lang="en-US" sz="1750" dirty="0">
                <a:solidFill>
                  <a:srgbClr val="E5E0DF"/>
                </a:solidFill>
                <a:latin typeface="Roboto" pitchFamily="34" charset="0"/>
                <a:ea typeface="Roboto" pitchFamily="34" charset="-122"/>
                <a:cs typeface="Roboto" pitchFamily="34" charset="-120"/>
              </a:rPr>
              <a:t>문장2: </a:t>
            </a:r>
            <a:pPr algn="l" indent="0" marL="0">
              <a:lnSpc>
                <a:spcPts val="2850"/>
              </a:lnSpc>
              <a:buNone/>
            </a:pPr>
            <a:r>
              <a:rPr lang="en-US" sz="1750" i="1" dirty="0">
                <a:solidFill>
                  <a:srgbClr val="E5E0DF"/>
                </a:solidFill>
                <a:latin typeface="Roboto" pitchFamily="34" charset="0"/>
                <a:ea typeface="Roboto" pitchFamily="34" charset="-122"/>
                <a:cs typeface="Roboto" pitchFamily="34" charset="-120"/>
              </a:rPr>
              <a:t>Can you leave raw chicken out all night?</a:t>
            </a:r>
            <a:endParaRPr lang="en-US" sz="1750" dirty="0"/>
          </a:p>
        </p:txBody>
      </p:sp>
      <p:sp>
        <p:nvSpPr>
          <p:cNvPr id="7" name="Text 5"/>
          <p:cNvSpPr/>
          <p:nvPr/>
        </p:nvSpPr>
        <p:spPr>
          <a:xfrm>
            <a:off x="793790" y="5787390"/>
            <a:ext cx="6244709" cy="725805"/>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Roboto" pitchFamily="34" charset="0"/>
                <a:ea typeface="Roboto" pitchFamily="34" charset="-122"/>
                <a:cs typeface="Roboto" pitchFamily="34" charset="-120"/>
              </a:rPr>
              <a:t>→ 단어는 유사하지만 “익힌 닭고기”와 “생 닭”이라는 명확한 차이가 있으며, 보건 기준도 다름.</a:t>
            </a:r>
            <a:endParaRPr lang="en-US" sz="1750" dirty="0"/>
          </a:p>
        </p:txBody>
      </p:sp>
      <p:sp>
        <p:nvSpPr>
          <p:cNvPr id="8" name="Text 6"/>
          <p:cNvSpPr/>
          <p:nvPr/>
        </p:nvSpPr>
        <p:spPr>
          <a:xfrm>
            <a:off x="7599521" y="2788087"/>
            <a:ext cx="6244709" cy="708660"/>
          </a:xfrm>
          <a:prstGeom prst="rect">
            <a:avLst/>
          </a:prstGeom>
          <a:noFill/>
          <a:ln/>
        </p:spPr>
        <p:txBody>
          <a:bodyPr wrap="square" lIns="0" tIns="0" rIns="0" bIns="0" rtlCol="0" anchor="t"/>
          <a:lstStyle/>
          <a:p>
            <a:pPr algn="l" indent="0" marL="0">
              <a:lnSpc>
                <a:spcPts val="2750"/>
              </a:lnSpc>
              <a:buNone/>
            </a:pPr>
            <a:r>
              <a:rPr lang="en-US" sz="2200" dirty="0">
                <a:solidFill>
                  <a:srgbClr val="FFFFFF"/>
                </a:solidFill>
                <a:latin typeface="Roboto Mono Medium" pitchFamily="34" charset="0"/>
                <a:ea typeface="Roboto Mono Medium" pitchFamily="34" charset="-122"/>
                <a:cs typeface="Roboto Mono Medium" pitchFamily="34" charset="-120"/>
              </a:rPr>
              <a:t>예측: Not Paraphrase (0), 실제: Paraphrase (1)</a:t>
            </a:r>
            <a:endParaRPr lang="en-US" sz="2200" dirty="0"/>
          </a:p>
        </p:txBody>
      </p:sp>
      <p:sp>
        <p:nvSpPr>
          <p:cNvPr id="9" name="Text 7"/>
          <p:cNvSpPr/>
          <p:nvPr/>
        </p:nvSpPr>
        <p:spPr>
          <a:xfrm>
            <a:off x="7599521" y="3723561"/>
            <a:ext cx="6244709" cy="725805"/>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Roboto" pitchFamily="34" charset="0"/>
                <a:ea typeface="Roboto" pitchFamily="34" charset="-122"/>
                <a:cs typeface="Roboto" pitchFamily="34" charset="-120"/>
              </a:rPr>
              <a:t>- 모델이 paraphrase 문장을 잘못 not paraphrase 판단한 사례 (False Negative)</a:t>
            </a:r>
            <a:endParaRPr lang="en-US" sz="1750" dirty="0"/>
          </a:p>
        </p:txBody>
      </p:sp>
      <p:sp>
        <p:nvSpPr>
          <p:cNvPr id="10" name="Text 8"/>
          <p:cNvSpPr/>
          <p:nvPr/>
        </p:nvSpPr>
        <p:spPr>
          <a:xfrm>
            <a:off x="7599521" y="4653439"/>
            <a:ext cx="6244709" cy="362903"/>
          </a:xfrm>
          <a:prstGeom prst="rect">
            <a:avLst/>
          </a:prstGeom>
          <a:noFill/>
          <a:ln/>
        </p:spPr>
        <p:txBody>
          <a:bodyPr wrap="none" lIns="0" tIns="0" rIns="0" bIns="0" rtlCol="0" anchor="t"/>
          <a:lstStyle/>
          <a:p>
            <a:pPr algn="l" indent="0" marL="0">
              <a:lnSpc>
                <a:spcPts val="2850"/>
              </a:lnSpc>
              <a:buNone/>
            </a:pPr>
            <a:r>
              <a:rPr lang="en-US" sz="1750" dirty="0">
                <a:solidFill>
                  <a:srgbClr val="E5E0DF"/>
                </a:solidFill>
                <a:latin typeface="Roboto" pitchFamily="34" charset="0"/>
                <a:ea typeface="Roboto" pitchFamily="34" charset="-122"/>
                <a:cs typeface="Roboto" pitchFamily="34" charset="-120"/>
              </a:rPr>
              <a:t>문장1: </a:t>
            </a:r>
            <a:pPr algn="l" indent="0" marL="0">
              <a:lnSpc>
                <a:spcPts val="2850"/>
              </a:lnSpc>
              <a:buNone/>
            </a:pPr>
            <a:r>
              <a:rPr lang="en-US" sz="1750" i="1" dirty="0">
                <a:solidFill>
                  <a:srgbClr val="E5E0DF"/>
                </a:solidFill>
                <a:latin typeface="Roboto" pitchFamily="34" charset="0"/>
                <a:ea typeface="Roboto" pitchFamily="34" charset="-122"/>
                <a:cs typeface="Roboto" pitchFamily="34" charset="-120"/>
              </a:rPr>
              <a:t>Are floppy disks still used today?</a:t>
            </a:r>
            <a:endParaRPr lang="en-US" sz="1750" dirty="0"/>
          </a:p>
        </p:txBody>
      </p:sp>
      <p:sp>
        <p:nvSpPr>
          <p:cNvPr id="11" name="Text 9"/>
          <p:cNvSpPr/>
          <p:nvPr/>
        </p:nvSpPr>
        <p:spPr>
          <a:xfrm>
            <a:off x="7599521" y="5220414"/>
            <a:ext cx="6244709" cy="362903"/>
          </a:xfrm>
          <a:prstGeom prst="rect">
            <a:avLst/>
          </a:prstGeom>
          <a:noFill/>
          <a:ln/>
        </p:spPr>
        <p:txBody>
          <a:bodyPr wrap="none" lIns="0" tIns="0" rIns="0" bIns="0" rtlCol="0" anchor="t"/>
          <a:lstStyle/>
          <a:p>
            <a:pPr algn="l" indent="0" marL="0">
              <a:lnSpc>
                <a:spcPts val="2850"/>
              </a:lnSpc>
              <a:buNone/>
            </a:pPr>
            <a:r>
              <a:rPr lang="en-US" sz="1750" dirty="0">
                <a:solidFill>
                  <a:srgbClr val="E5E0DF"/>
                </a:solidFill>
                <a:latin typeface="Roboto" pitchFamily="34" charset="0"/>
                <a:ea typeface="Roboto" pitchFamily="34" charset="-122"/>
                <a:cs typeface="Roboto" pitchFamily="34" charset="-120"/>
              </a:rPr>
              <a:t>문장2: </a:t>
            </a:r>
            <a:pPr algn="l" indent="0" marL="0">
              <a:lnSpc>
                <a:spcPts val="2850"/>
              </a:lnSpc>
              <a:buNone/>
            </a:pPr>
            <a:r>
              <a:rPr lang="en-US" sz="1750" i="1" dirty="0">
                <a:solidFill>
                  <a:srgbClr val="E5E0DF"/>
                </a:solidFill>
                <a:latin typeface="Roboto" pitchFamily="34" charset="0"/>
                <a:ea typeface="Roboto" pitchFamily="34" charset="-122"/>
                <a:cs typeface="Roboto" pitchFamily="34" charset="-120"/>
              </a:rPr>
              <a:t>Are floppy disks still useful?</a:t>
            </a:r>
            <a:endParaRPr lang="en-US" sz="1750" dirty="0"/>
          </a:p>
        </p:txBody>
      </p:sp>
      <p:sp>
        <p:nvSpPr>
          <p:cNvPr id="12" name="Text 10"/>
          <p:cNvSpPr/>
          <p:nvPr/>
        </p:nvSpPr>
        <p:spPr>
          <a:xfrm>
            <a:off x="7599521" y="5787390"/>
            <a:ext cx="6244709" cy="362903"/>
          </a:xfrm>
          <a:prstGeom prst="rect">
            <a:avLst/>
          </a:prstGeom>
          <a:noFill/>
          <a:ln/>
        </p:spPr>
        <p:txBody>
          <a:bodyPr wrap="none" lIns="0" tIns="0" rIns="0" bIns="0" rtlCol="0" anchor="t"/>
          <a:lstStyle/>
          <a:p>
            <a:pPr algn="l" indent="0" marL="0">
              <a:lnSpc>
                <a:spcPts val="2850"/>
              </a:lnSpc>
              <a:buNone/>
            </a:pPr>
            <a:r>
              <a:rPr lang="en-US" sz="1750" dirty="0">
                <a:solidFill>
                  <a:srgbClr val="E5E0DF"/>
                </a:solidFill>
                <a:latin typeface="Roboto" pitchFamily="34" charset="0"/>
                <a:ea typeface="Roboto" pitchFamily="34" charset="-122"/>
                <a:cs typeface="Roboto" pitchFamily="34" charset="-120"/>
              </a:rPr>
              <a:t>→ 표현 방식이 다를 뿐 의미는 거의 동일함.</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2510195"/>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E5E0DF"/>
                </a:solidFill>
                <a:latin typeface="Roboto" pitchFamily="34" charset="0"/>
                <a:ea typeface="Roboto" pitchFamily="34" charset="-122"/>
                <a:cs typeface="Roboto" pitchFamily="34" charset="-120"/>
              </a:rPr>
              <a:t>Error-aware Data Augmentation</a:t>
            </a:r>
            <a:endParaRPr lang="en-US" sz="1750" dirty="0"/>
          </a:p>
        </p:txBody>
      </p:sp>
      <p:sp>
        <p:nvSpPr>
          <p:cNvPr id="3" name="Text 1"/>
          <p:cNvSpPr/>
          <p:nvPr/>
        </p:nvSpPr>
        <p:spPr>
          <a:xfrm>
            <a:off x="793790" y="3077170"/>
            <a:ext cx="13042821"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E5E0DF"/>
                </a:solidFill>
                <a:latin typeface="Roboto" pitchFamily="34" charset="0"/>
                <a:ea typeface="Roboto" pitchFamily="34" charset="-122"/>
                <a:cs typeface="Roboto" pitchFamily="34" charset="-120"/>
              </a:rPr>
              <a:t>오답으로 판별된 샘플을 중심으로 대칭 문장 또는 교란 문장을 생성하여 학습 데이터에 포함.</a:t>
            </a:r>
            <a:endParaRPr lang="en-US" sz="1750" dirty="0"/>
          </a:p>
        </p:txBody>
      </p:sp>
      <p:sp>
        <p:nvSpPr>
          <p:cNvPr id="4" name="Text 2"/>
          <p:cNvSpPr/>
          <p:nvPr/>
        </p:nvSpPr>
        <p:spPr>
          <a:xfrm>
            <a:off x="793790" y="3519368"/>
            <a:ext cx="13042821"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E5E0DF"/>
                </a:solidFill>
                <a:latin typeface="Roboto" pitchFamily="34" charset="0"/>
                <a:ea typeface="Roboto" pitchFamily="34" charset="-122"/>
                <a:cs typeface="Roboto" pitchFamily="34" charset="-120"/>
              </a:rPr>
              <a:t>특히 표현만 바꾼 paraphrase 또는 미묘한 의미 차이를 가지는 negative 예시를 강화하여 모델의 예외 처리 능력 향상 기대.</a:t>
            </a:r>
            <a:endParaRPr lang="en-US" sz="1750" dirty="0"/>
          </a:p>
        </p:txBody>
      </p:sp>
      <p:sp>
        <p:nvSpPr>
          <p:cNvPr id="5" name="Text 3"/>
          <p:cNvSpPr/>
          <p:nvPr/>
        </p:nvSpPr>
        <p:spPr>
          <a:xfrm>
            <a:off x="793790" y="4137422"/>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E5E0DF"/>
                </a:solidFill>
                <a:latin typeface="Roboto" pitchFamily="34" charset="0"/>
                <a:ea typeface="Roboto" pitchFamily="34" charset="-122"/>
                <a:cs typeface="Roboto" pitchFamily="34" charset="-120"/>
              </a:rPr>
              <a:t>Multi-task Learning 구조 도입</a:t>
            </a:r>
            <a:endParaRPr lang="en-US" sz="1750" dirty="0"/>
          </a:p>
        </p:txBody>
      </p:sp>
      <p:sp>
        <p:nvSpPr>
          <p:cNvPr id="6" name="Text 4"/>
          <p:cNvSpPr/>
          <p:nvPr/>
        </p:nvSpPr>
        <p:spPr>
          <a:xfrm>
            <a:off x="793790" y="4755475"/>
            <a:ext cx="13042821" cy="725805"/>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E5E0DF"/>
                </a:solidFill>
                <a:latin typeface="Roboto" pitchFamily="34" charset="0"/>
                <a:ea typeface="Roboto" pitchFamily="34" charset="-122"/>
                <a:cs typeface="Roboto" pitchFamily="34" charset="-120"/>
              </a:rPr>
              <a:t>Paraphrase Detection 외에도 문장 유형 분류(Sentence Intent Classification) 또는 문장 간 관계 추론(NLI) 과 같은 태스크를 병행 학습.</a:t>
            </a:r>
            <a:endParaRPr lang="en-US" sz="1750" dirty="0"/>
          </a:p>
        </p:txBody>
      </p:sp>
      <p:sp>
        <p:nvSpPr>
          <p:cNvPr id="7" name="Text 5"/>
          <p:cNvSpPr/>
          <p:nvPr/>
        </p:nvSpPr>
        <p:spPr>
          <a:xfrm>
            <a:off x="793790" y="5560576"/>
            <a:ext cx="13042821"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E5E0DF"/>
                </a:solidFill>
                <a:latin typeface="Roboto" pitchFamily="34" charset="0"/>
                <a:ea typeface="Roboto" pitchFamily="34" charset="-122"/>
                <a:cs typeface="Roboto" pitchFamily="34" charset="-120"/>
              </a:rPr>
              <a:t>다양한 의미 판단 능력을 동시에 학습함으로써, 의미 분별 능력이 내재된 언어 표현을 보다 강인하게 획득 가능.</a:t>
            </a:r>
            <a:endParaRPr lang="en-US" sz="1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907018"/>
            <a:ext cx="5784175" cy="708779"/>
          </a:xfrm>
          <a:prstGeom prst="rect">
            <a:avLst/>
          </a:prstGeom>
          <a:noFill/>
          <a:ln/>
        </p:spPr>
        <p:txBody>
          <a:bodyPr wrap="none" lIns="0" tIns="0" rIns="0" bIns="0" rtlCol="0" anchor="t"/>
          <a:lstStyle/>
          <a:p>
            <a:pPr algn="l" indent="0" marL="0">
              <a:lnSpc>
                <a:spcPts val="5550"/>
              </a:lnSpc>
              <a:buNone/>
            </a:pPr>
            <a:r>
              <a:rPr lang="en-US" sz="4450" dirty="0">
                <a:solidFill>
                  <a:srgbClr val="FFFFFF"/>
                </a:solidFill>
                <a:latin typeface="Roboto Mono Medium" pitchFamily="34" charset="0"/>
                <a:ea typeface="Roboto Mono Medium" pitchFamily="34" charset="-122"/>
                <a:cs typeface="Roboto Mono Medium" pitchFamily="34" charset="-120"/>
              </a:rPr>
              <a:t>Sonnet Generation</a:t>
            </a:r>
            <a:endParaRPr lang="en-US" sz="4450" dirty="0"/>
          </a:p>
        </p:txBody>
      </p:sp>
      <p:sp>
        <p:nvSpPr>
          <p:cNvPr id="3" name="Shape 1"/>
          <p:cNvSpPr/>
          <p:nvPr/>
        </p:nvSpPr>
        <p:spPr>
          <a:xfrm>
            <a:off x="793790" y="2409587"/>
            <a:ext cx="6436400" cy="226814"/>
          </a:xfrm>
          <a:prstGeom prst="roundRect">
            <a:avLst>
              <a:gd name="adj" fmla="val 15001"/>
            </a:avLst>
          </a:prstGeom>
          <a:solidFill>
            <a:srgbClr val="404040"/>
          </a:solidFill>
          <a:ln/>
        </p:spPr>
      </p:sp>
      <p:sp>
        <p:nvSpPr>
          <p:cNvPr id="4" name="Text 2"/>
          <p:cNvSpPr/>
          <p:nvPr/>
        </p:nvSpPr>
        <p:spPr>
          <a:xfrm>
            <a:off x="1020604" y="2863215"/>
            <a:ext cx="5982772"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E5E0DF"/>
                </a:solidFill>
                <a:latin typeface="Roboto" pitchFamily="34" charset="0"/>
                <a:ea typeface="Roboto" pitchFamily="34" charset="-122"/>
                <a:cs typeface="Roboto" pitchFamily="34" charset="-120"/>
              </a:rPr>
              <a:t>사용 기법: Instruction tuning, LoRA, Distillation</a:t>
            </a:r>
            <a:endParaRPr lang="en-US" sz="1750" dirty="0"/>
          </a:p>
        </p:txBody>
      </p:sp>
      <p:sp>
        <p:nvSpPr>
          <p:cNvPr id="5" name="Text 3"/>
          <p:cNvSpPr/>
          <p:nvPr/>
        </p:nvSpPr>
        <p:spPr>
          <a:xfrm>
            <a:off x="1020604" y="3305413"/>
            <a:ext cx="5982772"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E5E0DF"/>
                </a:solidFill>
                <a:latin typeface="Roboto" pitchFamily="34" charset="0"/>
                <a:ea typeface="Roboto" pitchFamily="34" charset="-122"/>
                <a:cs typeface="Roboto" pitchFamily="34" charset="-120"/>
              </a:rPr>
              <a:t>학습 소요 시간: 약 1시간 20분(A100 기준)</a:t>
            </a:r>
            <a:endParaRPr lang="en-US" sz="1750" dirty="0"/>
          </a:p>
        </p:txBody>
      </p:sp>
      <p:sp>
        <p:nvSpPr>
          <p:cNvPr id="6" name="Text 4"/>
          <p:cNvSpPr/>
          <p:nvPr/>
        </p:nvSpPr>
        <p:spPr>
          <a:xfrm>
            <a:off x="1020604" y="3747611"/>
            <a:ext cx="5982772"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E5E0DF"/>
                </a:solidFill>
                <a:latin typeface="Roboto" pitchFamily="34" charset="0"/>
                <a:ea typeface="Roboto" pitchFamily="34" charset="-122"/>
                <a:cs typeface="Roboto" pitchFamily="34" charset="-120"/>
              </a:rPr>
              <a:t>Total epoch: 390</a:t>
            </a:r>
            <a:endParaRPr lang="en-US" sz="1750" dirty="0"/>
          </a:p>
        </p:txBody>
      </p:sp>
      <p:sp>
        <p:nvSpPr>
          <p:cNvPr id="7" name="Text 5"/>
          <p:cNvSpPr/>
          <p:nvPr/>
        </p:nvSpPr>
        <p:spPr>
          <a:xfrm>
            <a:off x="1020604" y="4246602"/>
            <a:ext cx="5982772" cy="362903"/>
          </a:xfrm>
          <a:prstGeom prst="rect">
            <a:avLst/>
          </a:prstGeom>
          <a:noFill/>
          <a:ln/>
        </p:spPr>
        <p:txBody>
          <a:bodyPr wrap="none" lIns="0" tIns="0" rIns="0" bIns="0" rtlCol="0" anchor="t"/>
          <a:lstStyle/>
          <a:p>
            <a:pPr algn="l" indent="0" marL="0">
              <a:lnSpc>
                <a:spcPts val="2850"/>
              </a:lnSpc>
              <a:buNone/>
            </a:pPr>
            <a:r>
              <a:rPr lang="en-US" sz="1750" dirty="0">
                <a:solidFill>
                  <a:srgbClr val="E5E0DF"/>
                </a:solidFill>
                <a:latin typeface="Roboto" pitchFamily="34" charset="0"/>
                <a:ea typeface="Roboto" pitchFamily="34" charset="-122"/>
                <a:cs typeface="Roboto" pitchFamily="34" charset="-120"/>
              </a:rPr>
              <a:t>distillation(220) -&gt; sonnet(90) -&gt; distillation(80)</a:t>
            </a:r>
            <a:endParaRPr lang="en-US" sz="1750" dirty="0"/>
          </a:p>
        </p:txBody>
      </p:sp>
      <p:sp>
        <p:nvSpPr>
          <p:cNvPr id="8" name="Shape 6"/>
          <p:cNvSpPr/>
          <p:nvPr/>
        </p:nvSpPr>
        <p:spPr>
          <a:xfrm>
            <a:off x="7400211" y="2069425"/>
            <a:ext cx="6436400" cy="226814"/>
          </a:xfrm>
          <a:prstGeom prst="roundRect">
            <a:avLst>
              <a:gd name="adj" fmla="val 15001"/>
            </a:avLst>
          </a:prstGeom>
          <a:solidFill>
            <a:srgbClr val="404040"/>
          </a:solidFill>
          <a:ln/>
        </p:spPr>
      </p:sp>
      <p:sp>
        <p:nvSpPr>
          <p:cNvPr id="9" name="Text 7"/>
          <p:cNvSpPr/>
          <p:nvPr/>
        </p:nvSpPr>
        <p:spPr>
          <a:xfrm>
            <a:off x="7627025" y="252305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E5E0DF"/>
                </a:solidFill>
                <a:latin typeface="Roboto Mono Medium" pitchFamily="34" charset="0"/>
                <a:ea typeface="Roboto Mono Medium" pitchFamily="34" charset="-122"/>
                <a:cs typeface="Roboto Mono Medium" pitchFamily="34" charset="-120"/>
              </a:rPr>
              <a:t>Pipeline 실험설계</a:t>
            </a:r>
            <a:endParaRPr lang="en-US" sz="2200" dirty="0"/>
          </a:p>
        </p:txBody>
      </p:sp>
      <p:sp>
        <p:nvSpPr>
          <p:cNvPr id="10" name="Text 8"/>
          <p:cNvSpPr/>
          <p:nvPr/>
        </p:nvSpPr>
        <p:spPr>
          <a:xfrm>
            <a:off x="7627025" y="3013472"/>
            <a:ext cx="5982772"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E5E0DF"/>
                </a:solidFill>
                <a:latin typeface="Roboto" pitchFamily="34" charset="0"/>
                <a:ea typeface="Roboto" pitchFamily="34" charset="-122"/>
                <a:cs typeface="Roboto" pitchFamily="34" charset="-120"/>
              </a:rPr>
              <a:t>총 10개의 학습 버전(version 0~9) 설계</a:t>
            </a:r>
            <a:endParaRPr lang="en-US" sz="1750" dirty="0"/>
          </a:p>
        </p:txBody>
      </p:sp>
      <p:sp>
        <p:nvSpPr>
          <p:cNvPr id="11" name="Text 9"/>
          <p:cNvSpPr/>
          <p:nvPr/>
        </p:nvSpPr>
        <p:spPr>
          <a:xfrm>
            <a:off x="7627025" y="3455670"/>
            <a:ext cx="5982772" cy="725805"/>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E5E0DF"/>
                </a:solidFill>
                <a:latin typeface="Roboto" pitchFamily="34" charset="0"/>
                <a:ea typeface="Roboto" pitchFamily="34" charset="-122"/>
                <a:cs typeface="Roboto" pitchFamily="34" charset="-120"/>
              </a:rPr>
              <a:t>RoLA Layer와 Transformer Block의 학습 범위를 단계적으로 확장하는 pipeline 구조로 실험 진행</a:t>
            </a:r>
            <a:endParaRPr lang="en-US" sz="1750" dirty="0"/>
          </a:p>
        </p:txBody>
      </p:sp>
      <p:sp>
        <p:nvSpPr>
          <p:cNvPr id="12" name="Shape 10"/>
          <p:cNvSpPr/>
          <p:nvPr/>
        </p:nvSpPr>
        <p:spPr>
          <a:xfrm>
            <a:off x="793790" y="5346502"/>
            <a:ext cx="6436400" cy="226814"/>
          </a:xfrm>
          <a:prstGeom prst="roundRect">
            <a:avLst>
              <a:gd name="adj" fmla="val 15001"/>
            </a:avLst>
          </a:prstGeom>
          <a:solidFill>
            <a:srgbClr val="404040"/>
          </a:solidFill>
          <a:ln/>
        </p:spPr>
      </p:sp>
      <p:sp>
        <p:nvSpPr>
          <p:cNvPr id="13" name="Text 11"/>
          <p:cNvSpPr/>
          <p:nvPr/>
        </p:nvSpPr>
        <p:spPr>
          <a:xfrm>
            <a:off x="1020604" y="5800130"/>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E5E0DF"/>
                </a:solidFill>
                <a:latin typeface="Roboto Mono Medium" pitchFamily="34" charset="0"/>
                <a:ea typeface="Roboto Mono Medium" pitchFamily="34" charset="-122"/>
                <a:cs typeface="Roboto Mono Medium" pitchFamily="34" charset="-120"/>
              </a:rPr>
              <a:t>Best score</a:t>
            </a:r>
            <a:endParaRPr lang="en-US" sz="2200" dirty="0"/>
          </a:p>
        </p:txBody>
      </p:sp>
      <p:sp>
        <p:nvSpPr>
          <p:cNvPr id="14" name="Text 12"/>
          <p:cNvSpPr/>
          <p:nvPr/>
        </p:nvSpPr>
        <p:spPr>
          <a:xfrm>
            <a:off x="1020604" y="6290548"/>
            <a:ext cx="5982772"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E5E0DF"/>
                </a:solidFill>
                <a:latin typeface="Roboto" pitchFamily="34" charset="0"/>
                <a:ea typeface="Roboto" pitchFamily="34" charset="-122"/>
                <a:cs typeface="Roboto" pitchFamily="34" charset="-120"/>
              </a:rPr>
              <a:t>After version 6, Test Score: 59.87</a:t>
            </a:r>
            <a:endParaRPr lang="en-US" sz="1750" dirty="0"/>
          </a:p>
        </p:txBody>
      </p:sp>
      <p:sp>
        <p:nvSpPr>
          <p:cNvPr id="15" name="Text 13"/>
          <p:cNvSpPr/>
          <p:nvPr/>
        </p:nvSpPr>
        <p:spPr>
          <a:xfrm>
            <a:off x="1020604" y="6732746"/>
            <a:ext cx="5982772" cy="362903"/>
          </a:xfrm>
          <a:prstGeom prst="rect">
            <a:avLst/>
          </a:prstGeom>
          <a:noFill/>
          <a:ln/>
        </p:spPr>
        <p:txBody>
          <a:bodyPr wrap="none" lIns="0" tIns="0" rIns="0" bIns="0" rtlCol="0" anchor="t"/>
          <a:lstStyle/>
          <a:p>
            <a:pPr algn="l" marL="342900" indent="-342900">
              <a:lnSpc>
                <a:spcPts val="2850"/>
              </a:lnSpc>
              <a:buSzPct val="100000"/>
              <a:buChar char="•"/>
            </a:pPr>
            <a:r>
              <a:rPr lang="en-US" sz="1750" dirty="0">
                <a:solidFill>
                  <a:srgbClr val="E5E0DF"/>
                </a:solidFill>
                <a:latin typeface="Roboto" pitchFamily="34" charset="0"/>
                <a:ea typeface="Roboto" pitchFamily="34" charset="-122"/>
                <a:cs typeface="Roboto" pitchFamily="34" charset="-120"/>
              </a:rPr>
              <a:t>'Distillation→Gold→Distillation' 전략</a:t>
            </a:r>
            <a:endParaRPr lang="en-US" sz="1750" dirty="0"/>
          </a:p>
        </p:txBody>
      </p:sp>
      <p:sp>
        <p:nvSpPr>
          <p:cNvPr id="16" name="Shape 14"/>
          <p:cNvSpPr/>
          <p:nvPr/>
        </p:nvSpPr>
        <p:spPr>
          <a:xfrm>
            <a:off x="7400211" y="5006340"/>
            <a:ext cx="6436400" cy="226814"/>
          </a:xfrm>
          <a:prstGeom prst="roundRect">
            <a:avLst>
              <a:gd name="adj" fmla="val 15001"/>
            </a:avLst>
          </a:prstGeom>
          <a:solidFill>
            <a:srgbClr val="404040"/>
          </a:solidFill>
          <a:ln/>
        </p:spPr>
      </p:sp>
      <p:sp>
        <p:nvSpPr>
          <p:cNvPr id="17" name="Text 15"/>
          <p:cNvSpPr/>
          <p:nvPr/>
        </p:nvSpPr>
        <p:spPr>
          <a:xfrm>
            <a:off x="7627025" y="5459968"/>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E5E0DF"/>
                </a:solidFill>
                <a:latin typeface="Roboto Mono Medium" pitchFamily="34" charset="0"/>
                <a:ea typeface="Roboto Mono Medium" pitchFamily="34" charset="-122"/>
                <a:cs typeface="Roboto Mono Medium" pitchFamily="34" charset="-120"/>
              </a:rPr>
              <a:t>실험적 검증</a:t>
            </a:r>
            <a:endParaRPr lang="en-US" sz="2200" dirty="0"/>
          </a:p>
        </p:txBody>
      </p:sp>
      <p:sp>
        <p:nvSpPr>
          <p:cNvPr id="18" name="Text 16"/>
          <p:cNvSpPr/>
          <p:nvPr/>
        </p:nvSpPr>
        <p:spPr>
          <a:xfrm>
            <a:off x="7627025" y="5950387"/>
            <a:ext cx="5982772" cy="725805"/>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Roboto" pitchFamily="34" charset="0"/>
                <a:ea typeface="Roboto" pitchFamily="34" charset="-122"/>
                <a:cs typeface="Roboto" pitchFamily="34" charset="-120"/>
              </a:rPr>
              <a:t>데이터셋 순차적 전환과 모델 복잡도의 점진적 확장이 성능 향상에 효과적임을 실험적으로 검증</a:t>
            </a:r>
            <a:endParaRPr lang="en-US" sz="1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86527" y="618053"/>
            <a:ext cx="8809196" cy="702231"/>
          </a:xfrm>
          <a:prstGeom prst="rect">
            <a:avLst/>
          </a:prstGeom>
          <a:noFill/>
          <a:ln/>
        </p:spPr>
        <p:txBody>
          <a:bodyPr wrap="none" lIns="0" tIns="0" rIns="0" bIns="0" rtlCol="0" anchor="t"/>
          <a:lstStyle/>
          <a:p>
            <a:pPr algn="l" indent="0" marL="0">
              <a:lnSpc>
                <a:spcPts val="5500"/>
              </a:lnSpc>
              <a:buNone/>
            </a:pPr>
            <a:r>
              <a:rPr lang="en-US" sz="4400" dirty="0">
                <a:solidFill>
                  <a:srgbClr val="FFFFFF"/>
                </a:solidFill>
                <a:latin typeface="Roboto Mono Medium" pitchFamily="34" charset="0"/>
                <a:ea typeface="Roboto Mono Medium" pitchFamily="34" charset="-122"/>
                <a:cs typeface="Roboto Mono Medium" pitchFamily="34" charset="-120"/>
              </a:rPr>
              <a:t>Sonnet Generation: 실험 결과</a:t>
            </a:r>
            <a:endParaRPr lang="en-US" sz="4400" dirty="0"/>
          </a:p>
        </p:txBody>
      </p:sp>
      <p:pic>
        <p:nvPicPr>
          <p:cNvPr id="3" name="Image 0" descr="preencoded.png">    </p:cNvPr>
          <p:cNvPicPr>
            <a:picLocks noChangeAspect="1"/>
          </p:cNvPicPr>
          <p:nvPr/>
        </p:nvPicPr>
        <p:blipFill>
          <a:blip r:embed="rId1"/>
          <a:stretch>
            <a:fillRect/>
          </a:stretch>
        </p:blipFill>
        <p:spPr>
          <a:xfrm>
            <a:off x="786527" y="1910120"/>
            <a:ext cx="8115776" cy="4836557"/>
          </a:xfrm>
          <a:prstGeom prst="rect">
            <a:avLst/>
          </a:prstGeom>
        </p:spPr>
      </p:pic>
      <p:sp>
        <p:nvSpPr>
          <p:cNvPr id="4" name="Text 1"/>
          <p:cNvSpPr/>
          <p:nvPr/>
        </p:nvSpPr>
        <p:spPr>
          <a:xfrm>
            <a:off x="9637633" y="1735931"/>
            <a:ext cx="4213741" cy="1078706"/>
          </a:xfrm>
          <a:prstGeom prst="rect">
            <a:avLst/>
          </a:prstGeom>
          <a:noFill/>
          <a:ln/>
        </p:spPr>
        <p:txBody>
          <a:bodyPr wrap="square" lIns="0" tIns="0" rIns="0" bIns="0" rtlCol="0" anchor="t"/>
          <a:lstStyle/>
          <a:p>
            <a:pPr algn="l" marL="342900" indent="-342900">
              <a:lnSpc>
                <a:spcPts val="2800"/>
              </a:lnSpc>
              <a:buSzPct val="100000"/>
              <a:buChar char="•"/>
            </a:pPr>
            <a:r>
              <a:rPr lang="en-US" sz="1750" dirty="0">
                <a:solidFill>
                  <a:srgbClr val="E5E0DF"/>
                </a:solidFill>
                <a:latin typeface="Roboto" pitchFamily="34" charset="0"/>
                <a:ea typeface="Roboto" pitchFamily="34" charset="-122"/>
                <a:cs typeface="Roboto" pitchFamily="34" charset="-120"/>
              </a:rPr>
              <a:t>220 epoch까지 Transformer block과 LoRA를 점진적으로 freeze하며 Distiallation data로 학습</a:t>
            </a:r>
            <a:endParaRPr lang="en-US" sz="1750" dirty="0"/>
          </a:p>
        </p:txBody>
      </p:sp>
      <p:sp>
        <p:nvSpPr>
          <p:cNvPr id="5" name="Text 2"/>
          <p:cNvSpPr/>
          <p:nvPr/>
        </p:nvSpPr>
        <p:spPr>
          <a:xfrm>
            <a:off x="9637633" y="2893219"/>
            <a:ext cx="4213741" cy="359569"/>
          </a:xfrm>
          <a:prstGeom prst="rect">
            <a:avLst/>
          </a:prstGeom>
          <a:noFill/>
          <a:ln/>
        </p:spPr>
        <p:txBody>
          <a:bodyPr wrap="none" lIns="0" tIns="0" rIns="0" bIns="0" rtlCol="0" anchor="t"/>
          <a:lstStyle/>
          <a:p>
            <a:pPr algn="l" marL="342900" indent="-342900">
              <a:lnSpc>
                <a:spcPts val="2800"/>
              </a:lnSpc>
              <a:buSzPct val="100000"/>
              <a:buChar char="•"/>
            </a:pPr>
            <a:r>
              <a:rPr lang="en-US" sz="1750" dirty="0">
                <a:solidFill>
                  <a:srgbClr val="E5E0DF"/>
                </a:solidFill>
                <a:latin typeface="Roboto" pitchFamily="34" charset="0"/>
                <a:ea typeface="Roboto" pitchFamily="34" charset="-122"/>
                <a:cs typeface="Roboto" pitchFamily="34" charset="-120"/>
              </a:rPr>
              <a:t>Test score의 안정적 상승</a:t>
            </a:r>
            <a:endParaRPr lang="en-US" sz="1750" dirty="0"/>
          </a:p>
        </p:txBody>
      </p:sp>
      <p:sp>
        <p:nvSpPr>
          <p:cNvPr id="6" name="Text 3"/>
          <p:cNvSpPr/>
          <p:nvPr/>
        </p:nvSpPr>
        <p:spPr>
          <a:xfrm>
            <a:off x="9637633" y="3331369"/>
            <a:ext cx="4213741" cy="719138"/>
          </a:xfrm>
          <a:prstGeom prst="rect">
            <a:avLst/>
          </a:prstGeom>
          <a:noFill/>
          <a:ln/>
        </p:spPr>
        <p:txBody>
          <a:bodyPr wrap="square" lIns="0" tIns="0" rIns="0" bIns="0" rtlCol="0" anchor="t"/>
          <a:lstStyle/>
          <a:p>
            <a:pPr algn="l" marL="342900" indent="-342900">
              <a:lnSpc>
                <a:spcPts val="2800"/>
              </a:lnSpc>
              <a:buSzPct val="100000"/>
              <a:buChar char="•"/>
            </a:pPr>
            <a:r>
              <a:rPr lang="en-US" sz="1750" dirty="0">
                <a:solidFill>
                  <a:srgbClr val="E5E0DF"/>
                </a:solidFill>
                <a:latin typeface="Roboto" pitchFamily="34" charset="0"/>
                <a:ea typeface="Roboto" pitchFamily="34" charset="-122"/>
                <a:cs typeface="Roboto" pitchFamily="34" charset="-120"/>
              </a:rPr>
              <a:t>220 epoch부터 310 epoch까지 sonnet data(sonnet.txt)로 학습</a:t>
            </a:r>
            <a:endParaRPr lang="en-US" sz="1750" dirty="0"/>
          </a:p>
        </p:txBody>
      </p:sp>
      <p:sp>
        <p:nvSpPr>
          <p:cNvPr id="7" name="Text 4"/>
          <p:cNvSpPr/>
          <p:nvPr/>
        </p:nvSpPr>
        <p:spPr>
          <a:xfrm>
            <a:off x="9637633" y="4129088"/>
            <a:ext cx="4213741" cy="359569"/>
          </a:xfrm>
          <a:prstGeom prst="rect">
            <a:avLst/>
          </a:prstGeom>
          <a:noFill/>
          <a:ln/>
        </p:spPr>
        <p:txBody>
          <a:bodyPr wrap="none" lIns="0" tIns="0" rIns="0" bIns="0" rtlCol="0" anchor="t"/>
          <a:lstStyle/>
          <a:p>
            <a:pPr algn="l" marL="342900" indent="-342900">
              <a:lnSpc>
                <a:spcPts val="2800"/>
              </a:lnSpc>
              <a:buSzPct val="100000"/>
              <a:buChar char="•"/>
            </a:pPr>
            <a:r>
              <a:rPr lang="en-US" sz="1750" dirty="0">
                <a:solidFill>
                  <a:srgbClr val="E5E0DF"/>
                </a:solidFill>
                <a:latin typeface="Roboto" pitchFamily="34" charset="0"/>
                <a:ea typeface="Roboto" pitchFamily="34" charset="-122"/>
                <a:cs typeface="Roboto" pitchFamily="34" charset="-120"/>
              </a:rPr>
              <a:t>Test score의 급격한 하락</a:t>
            </a:r>
            <a:endParaRPr lang="en-US" sz="1750" dirty="0"/>
          </a:p>
        </p:txBody>
      </p:sp>
      <p:sp>
        <p:nvSpPr>
          <p:cNvPr id="8" name="Text 5"/>
          <p:cNvSpPr/>
          <p:nvPr/>
        </p:nvSpPr>
        <p:spPr>
          <a:xfrm>
            <a:off x="9637633" y="4567238"/>
            <a:ext cx="4213741" cy="719138"/>
          </a:xfrm>
          <a:prstGeom prst="rect">
            <a:avLst/>
          </a:prstGeom>
          <a:noFill/>
          <a:ln/>
        </p:spPr>
        <p:txBody>
          <a:bodyPr wrap="square" lIns="0" tIns="0" rIns="0" bIns="0" rtlCol="0" anchor="t"/>
          <a:lstStyle/>
          <a:p>
            <a:pPr algn="l" marL="342900" indent="-342900">
              <a:lnSpc>
                <a:spcPts val="2800"/>
              </a:lnSpc>
              <a:buSzPct val="100000"/>
              <a:buChar char="•"/>
            </a:pPr>
            <a:r>
              <a:rPr lang="en-US" sz="1750" dirty="0">
                <a:solidFill>
                  <a:srgbClr val="E5E0DF"/>
                </a:solidFill>
                <a:latin typeface="Roboto" pitchFamily="34" charset="0"/>
                <a:ea typeface="Roboto" pitchFamily="34" charset="-122"/>
                <a:cs typeface="Roboto" pitchFamily="34" charset="-120"/>
              </a:rPr>
              <a:t>다시 Distillation data로 390 epoch까지 학습</a:t>
            </a:r>
            <a:endParaRPr lang="en-US" sz="1750" dirty="0"/>
          </a:p>
        </p:txBody>
      </p:sp>
      <p:sp>
        <p:nvSpPr>
          <p:cNvPr id="9" name="Text 6"/>
          <p:cNvSpPr/>
          <p:nvPr/>
        </p:nvSpPr>
        <p:spPr>
          <a:xfrm>
            <a:off x="9637633" y="5364956"/>
            <a:ext cx="4213741" cy="359569"/>
          </a:xfrm>
          <a:prstGeom prst="rect">
            <a:avLst/>
          </a:prstGeom>
          <a:noFill/>
          <a:ln/>
        </p:spPr>
        <p:txBody>
          <a:bodyPr wrap="none" lIns="0" tIns="0" rIns="0" bIns="0" rtlCol="0" anchor="t"/>
          <a:lstStyle/>
          <a:p>
            <a:pPr algn="l" marL="342900" indent="-342900">
              <a:lnSpc>
                <a:spcPts val="2800"/>
              </a:lnSpc>
              <a:buSzPct val="100000"/>
              <a:buChar char="•"/>
            </a:pPr>
            <a:r>
              <a:rPr lang="en-US" sz="1750" dirty="0">
                <a:solidFill>
                  <a:srgbClr val="E5E0DF"/>
                </a:solidFill>
                <a:latin typeface="Roboto" pitchFamily="34" charset="0"/>
                <a:ea typeface="Roboto" pitchFamily="34" charset="-122"/>
                <a:cs typeface="Roboto" pitchFamily="34" charset="-120"/>
              </a:rPr>
              <a:t>최고점 달성</a:t>
            </a:r>
            <a:endParaRPr lang="en-US" sz="1750" dirty="0"/>
          </a:p>
        </p:txBody>
      </p:sp>
      <p:sp>
        <p:nvSpPr>
          <p:cNvPr id="10" name="Text 7"/>
          <p:cNvSpPr/>
          <p:nvPr/>
        </p:nvSpPr>
        <p:spPr>
          <a:xfrm>
            <a:off x="9637633" y="5803106"/>
            <a:ext cx="4213741" cy="359569"/>
          </a:xfrm>
          <a:prstGeom prst="rect">
            <a:avLst/>
          </a:prstGeom>
          <a:noFill/>
          <a:ln/>
        </p:spPr>
        <p:txBody>
          <a:bodyPr wrap="none" lIns="0" tIns="0" rIns="0" bIns="0" rtlCol="0" anchor="t"/>
          <a:lstStyle/>
          <a:p>
            <a:pPr algn="l" marL="342900" indent="-342900">
              <a:lnSpc>
                <a:spcPts val="2800"/>
              </a:lnSpc>
              <a:buSzPct val="100000"/>
              <a:buChar char="•"/>
            </a:pPr>
            <a:r>
              <a:rPr lang="en-US" sz="1750" dirty="0">
                <a:solidFill>
                  <a:srgbClr val="E5E0DF"/>
                </a:solidFill>
                <a:latin typeface="Roboto" pitchFamily="34" charset="0"/>
                <a:ea typeface="Roboto" pitchFamily="34" charset="-122"/>
                <a:cs typeface="Roboto" pitchFamily="34" charset="-120"/>
              </a:rPr>
              <a:t>그 이후로 데이터를 번갈아가며 학습</a:t>
            </a:r>
            <a:endParaRPr lang="en-US" sz="1750" dirty="0"/>
          </a:p>
        </p:txBody>
      </p:sp>
      <p:sp>
        <p:nvSpPr>
          <p:cNvPr id="11" name="Text 8"/>
          <p:cNvSpPr/>
          <p:nvPr/>
        </p:nvSpPr>
        <p:spPr>
          <a:xfrm>
            <a:off x="9637633" y="6241256"/>
            <a:ext cx="4213741" cy="359569"/>
          </a:xfrm>
          <a:prstGeom prst="rect">
            <a:avLst/>
          </a:prstGeom>
          <a:noFill/>
          <a:ln/>
        </p:spPr>
        <p:txBody>
          <a:bodyPr wrap="none" lIns="0" tIns="0" rIns="0" bIns="0" rtlCol="0" anchor="t"/>
          <a:lstStyle/>
          <a:p>
            <a:pPr algn="l" marL="342900" indent="-342900">
              <a:lnSpc>
                <a:spcPts val="2800"/>
              </a:lnSpc>
              <a:buSzPct val="100000"/>
              <a:buChar char="•"/>
            </a:pPr>
            <a:r>
              <a:rPr lang="en-US" sz="1750" dirty="0">
                <a:solidFill>
                  <a:srgbClr val="E5E0DF"/>
                </a:solidFill>
                <a:latin typeface="Roboto" pitchFamily="34" charset="0"/>
                <a:ea typeface="Roboto" pitchFamily="34" charset="-122"/>
                <a:cs typeface="Roboto" pitchFamily="34" charset="-120"/>
              </a:rPr>
              <a:t>성능이 더 이상 오르지 않음을 확인</a:t>
            </a:r>
            <a:endParaRPr lang="en-US" sz="1750" dirty="0"/>
          </a:p>
        </p:txBody>
      </p:sp>
      <p:sp>
        <p:nvSpPr>
          <p:cNvPr id="12" name="Text 9"/>
          <p:cNvSpPr/>
          <p:nvPr/>
        </p:nvSpPr>
        <p:spPr>
          <a:xfrm>
            <a:off x="786527" y="7252216"/>
            <a:ext cx="13057346" cy="359569"/>
          </a:xfrm>
          <a:prstGeom prst="rect">
            <a:avLst/>
          </a:prstGeom>
          <a:noFill/>
          <a:ln/>
        </p:spPr>
        <p:txBody>
          <a:bodyPr wrap="none" lIns="0" tIns="0" rIns="0" bIns="0" rtlCol="0" anchor="t"/>
          <a:lstStyle/>
          <a:p>
            <a:pPr algn="l" indent="0" marL="0">
              <a:lnSpc>
                <a:spcPts val="2800"/>
              </a:lnSpc>
              <a:buNone/>
            </a:pPr>
            <a:endParaRPr lang="en-US" sz="1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942023"/>
            <a:ext cx="5784175" cy="708779"/>
          </a:xfrm>
          <a:prstGeom prst="rect">
            <a:avLst/>
          </a:prstGeom>
          <a:noFill/>
          <a:ln/>
        </p:spPr>
        <p:txBody>
          <a:bodyPr wrap="none" lIns="0" tIns="0" rIns="0" bIns="0" rtlCol="0" anchor="t"/>
          <a:lstStyle/>
          <a:p>
            <a:pPr algn="l" indent="0" marL="0">
              <a:lnSpc>
                <a:spcPts val="5550"/>
              </a:lnSpc>
              <a:buNone/>
            </a:pPr>
            <a:r>
              <a:rPr lang="en-US" sz="4450" dirty="0">
                <a:solidFill>
                  <a:srgbClr val="FFFFFF"/>
                </a:solidFill>
                <a:latin typeface="Roboto Mono Medium" pitchFamily="34" charset="0"/>
                <a:ea typeface="Roboto Mono Medium" pitchFamily="34" charset="-122"/>
                <a:cs typeface="Roboto Mono Medium" pitchFamily="34" charset="-120"/>
              </a:rPr>
              <a:t>GPT-2 Fine-Tuning</a:t>
            </a:r>
            <a:endParaRPr lang="en-US" sz="4450" dirty="0"/>
          </a:p>
        </p:txBody>
      </p:sp>
      <p:sp>
        <p:nvSpPr>
          <p:cNvPr id="3" name="Text 1"/>
          <p:cNvSpPr/>
          <p:nvPr/>
        </p:nvSpPr>
        <p:spPr>
          <a:xfrm>
            <a:off x="1857256" y="2643188"/>
            <a:ext cx="2835235" cy="354330"/>
          </a:xfrm>
          <a:prstGeom prst="rect">
            <a:avLst/>
          </a:prstGeom>
          <a:noFill/>
          <a:ln/>
        </p:spPr>
        <p:txBody>
          <a:bodyPr wrap="none" lIns="0" tIns="0" rIns="0" bIns="0" rtlCol="0" anchor="t"/>
          <a:lstStyle/>
          <a:p>
            <a:pPr algn="r" indent="0" marL="0">
              <a:lnSpc>
                <a:spcPts val="2750"/>
              </a:lnSpc>
              <a:buNone/>
            </a:pPr>
            <a:r>
              <a:rPr lang="en-US" sz="2200" dirty="0">
                <a:solidFill>
                  <a:srgbClr val="E5E0DF"/>
                </a:solidFill>
                <a:latin typeface="Roboto Mono Medium" pitchFamily="34" charset="0"/>
                <a:ea typeface="Roboto Mono Medium" pitchFamily="34" charset="-122"/>
                <a:cs typeface="Roboto Mono Medium" pitchFamily="34" charset="-120"/>
              </a:rPr>
              <a:t>효율적 튜닝</a:t>
            </a:r>
            <a:endParaRPr lang="en-US" sz="2200" dirty="0"/>
          </a:p>
        </p:txBody>
      </p:sp>
      <p:sp>
        <p:nvSpPr>
          <p:cNvPr id="4" name="Text 2"/>
          <p:cNvSpPr/>
          <p:nvPr/>
        </p:nvSpPr>
        <p:spPr>
          <a:xfrm>
            <a:off x="793790" y="3133606"/>
            <a:ext cx="3898702" cy="362903"/>
          </a:xfrm>
          <a:prstGeom prst="rect">
            <a:avLst/>
          </a:prstGeom>
          <a:noFill/>
          <a:ln/>
        </p:spPr>
        <p:txBody>
          <a:bodyPr wrap="none" lIns="0" tIns="0" rIns="0" bIns="0" rtlCol="0" anchor="t"/>
          <a:lstStyle/>
          <a:p>
            <a:pPr algn="r" indent="0" marL="0">
              <a:lnSpc>
                <a:spcPts val="2850"/>
              </a:lnSpc>
              <a:buNone/>
            </a:pPr>
            <a:r>
              <a:rPr lang="en-US" sz="1750" dirty="0">
                <a:solidFill>
                  <a:srgbClr val="E5E0DF"/>
                </a:solidFill>
                <a:latin typeface="Roboto" pitchFamily="34" charset="0"/>
                <a:ea typeface="Roboto" pitchFamily="34" charset="-122"/>
                <a:cs typeface="Roboto" pitchFamily="34" charset="-120"/>
              </a:rPr>
              <a:t>LoRA를 통한 효율적인 파라미터 튜닝</a:t>
            </a:r>
            <a:endParaRPr lang="en-US" sz="1750" dirty="0"/>
          </a:p>
        </p:txBody>
      </p:sp>
      <p:pic>
        <p:nvPicPr>
          <p:cNvPr id="5" name="Image 0" descr="preencoded.png">    </p:cNvPr>
          <p:cNvPicPr>
            <a:picLocks noChangeAspect="1"/>
          </p:cNvPicPr>
          <p:nvPr/>
        </p:nvPicPr>
        <p:blipFill>
          <a:blip r:embed="rId1"/>
          <a:stretch>
            <a:fillRect/>
          </a:stretch>
        </p:blipFill>
        <p:spPr>
          <a:xfrm>
            <a:off x="5032653" y="2104430"/>
            <a:ext cx="4564975" cy="4564975"/>
          </a:xfrm>
          <a:prstGeom prst="rect">
            <a:avLst/>
          </a:prstGeom>
        </p:spPr>
      </p:pic>
      <p:pic>
        <p:nvPicPr>
          <p:cNvPr id="6" name="Image 1" descr="preencoded.png">    </p:cNvPr>
          <p:cNvPicPr>
            <a:picLocks noChangeAspect="1"/>
          </p:cNvPicPr>
          <p:nvPr/>
        </p:nvPicPr>
        <p:blipFill>
          <a:blip r:embed="rId2"/>
          <a:stretch>
            <a:fillRect/>
          </a:stretch>
        </p:blipFill>
        <p:spPr>
          <a:xfrm>
            <a:off x="6226731" y="2867501"/>
            <a:ext cx="339328" cy="424220"/>
          </a:xfrm>
          <a:prstGeom prst="rect">
            <a:avLst/>
          </a:prstGeom>
        </p:spPr>
      </p:pic>
      <p:sp>
        <p:nvSpPr>
          <p:cNvPr id="7" name="Text 3"/>
          <p:cNvSpPr/>
          <p:nvPr/>
        </p:nvSpPr>
        <p:spPr>
          <a:xfrm>
            <a:off x="9937790" y="2643188"/>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E5E0DF"/>
                </a:solidFill>
                <a:latin typeface="Roboto Mono Medium" pitchFamily="34" charset="0"/>
                <a:ea typeface="Roboto Mono Medium" pitchFamily="34" charset="-122"/>
                <a:cs typeface="Roboto Mono Medium" pitchFamily="34" charset="-120"/>
              </a:rPr>
              <a:t>통제 가능한 생성</a:t>
            </a:r>
            <a:endParaRPr lang="en-US" sz="2200" dirty="0"/>
          </a:p>
        </p:txBody>
      </p:sp>
      <p:sp>
        <p:nvSpPr>
          <p:cNvPr id="8" name="Text 4"/>
          <p:cNvSpPr/>
          <p:nvPr/>
        </p:nvSpPr>
        <p:spPr>
          <a:xfrm>
            <a:off x="9937790" y="3133606"/>
            <a:ext cx="3898821" cy="362903"/>
          </a:xfrm>
          <a:prstGeom prst="rect">
            <a:avLst/>
          </a:prstGeom>
          <a:noFill/>
          <a:ln/>
        </p:spPr>
        <p:txBody>
          <a:bodyPr wrap="none" lIns="0" tIns="0" rIns="0" bIns="0" rtlCol="0" anchor="t"/>
          <a:lstStyle/>
          <a:p>
            <a:pPr algn="l" indent="0" marL="0">
              <a:lnSpc>
                <a:spcPts val="2850"/>
              </a:lnSpc>
              <a:buNone/>
            </a:pPr>
            <a:r>
              <a:rPr lang="en-US" sz="1750" dirty="0">
                <a:solidFill>
                  <a:srgbClr val="E5E0DF"/>
                </a:solidFill>
                <a:latin typeface="Roboto" pitchFamily="34" charset="0"/>
                <a:ea typeface="Roboto" pitchFamily="34" charset="-122"/>
                <a:cs typeface="Roboto" pitchFamily="34" charset="-120"/>
              </a:rPr>
              <a:t>Instruction Tuning을 통한 출력 제어</a:t>
            </a:r>
            <a:endParaRPr lang="en-US" sz="1750" dirty="0"/>
          </a:p>
        </p:txBody>
      </p:sp>
      <p:pic>
        <p:nvPicPr>
          <p:cNvPr id="9" name="Image 2" descr="preencoded.png">    </p:cNvPr>
          <p:cNvPicPr>
            <a:picLocks noChangeAspect="1"/>
          </p:cNvPicPr>
          <p:nvPr/>
        </p:nvPicPr>
        <p:blipFill>
          <a:blip r:embed="rId3"/>
          <a:stretch>
            <a:fillRect/>
          </a:stretch>
        </p:blipFill>
        <p:spPr>
          <a:xfrm>
            <a:off x="5032653" y="2104430"/>
            <a:ext cx="4564975" cy="4564975"/>
          </a:xfrm>
          <a:prstGeom prst="rect">
            <a:avLst/>
          </a:prstGeom>
        </p:spPr>
      </p:pic>
      <p:pic>
        <p:nvPicPr>
          <p:cNvPr id="10" name="Image 3" descr="preencoded.png">    </p:cNvPr>
          <p:cNvPicPr>
            <a:picLocks noChangeAspect="1"/>
          </p:cNvPicPr>
          <p:nvPr/>
        </p:nvPicPr>
        <p:blipFill>
          <a:blip r:embed="rId4"/>
          <a:stretch>
            <a:fillRect/>
          </a:stretch>
        </p:blipFill>
        <p:spPr>
          <a:xfrm>
            <a:off x="8452604" y="3256002"/>
            <a:ext cx="339328" cy="424220"/>
          </a:xfrm>
          <a:prstGeom prst="rect">
            <a:avLst/>
          </a:prstGeom>
        </p:spPr>
      </p:pic>
      <p:sp>
        <p:nvSpPr>
          <p:cNvPr id="11" name="Text 5"/>
          <p:cNvSpPr/>
          <p:nvPr/>
        </p:nvSpPr>
        <p:spPr>
          <a:xfrm>
            <a:off x="9937790" y="4914305"/>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E5E0DF"/>
                </a:solidFill>
                <a:latin typeface="Roboto Mono Medium" pitchFamily="34" charset="0"/>
                <a:ea typeface="Roboto Mono Medium" pitchFamily="34" charset="-122"/>
                <a:cs typeface="Roboto Mono Medium" pitchFamily="34" charset="-120"/>
              </a:rPr>
              <a:t>맞춤형 출력</a:t>
            </a:r>
            <a:endParaRPr lang="en-US" sz="2200" dirty="0"/>
          </a:p>
        </p:txBody>
      </p:sp>
      <p:sp>
        <p:nvSpPr>
          <p:cNvPr id="12" name="Text 6"/>
          <p:cNvSpPr/>
          <p:nvPr/>
        </p:nvSpPr>
        <p:spPr>
          <a:xfrm>
            <a:off x="9937790" y="5404723"/>
            <a:ext cx="3898821" cy="725805"/>
          </a:xfrm>
          <a:prstGeom prst="rect">
            <a:avLst/>
          </a:prstGeom>
          <a:noFill/>
          <a:ln/>
        </p:spPr>
        <p:txBody>
          <a:bodyPr wrap="square" lIns="0" tIns="0" rIns="0" bIns="0" rtlCol="0" anchor="t"/>
          <a:lstStyle/>
          <a:p>
            <a:pPr algn="l" indent="0" marL="0">
              <a:lnSpc>
                <a:spcPts val="2850"/>
              </a:lnSpc>
              <a:buNone/>
            </a:pPr>
            <a:r>
              <a:rPr lang="en-US" sz="1750" dirty="0">
                <a:solidFill>
                  <a:srgbClr val="E5E0DF"/>
                </a:solidFill>
                <a:latin typeface="Roboto" pitchFamily="34" charset="0"/>
                <a:ea typeface="Roboto" pitchFamily="34" charset="-122"/>
                <a:cs typeface="Roboto" pitchFamily="34" charset="-120"/>
              </a:rPr>
              <a:t>Task-specific Head를 통한 과제별 최적화</a:t>
            </a:r>
            <a:endParaRPr lang="en-US" sz="1750" dirty="0"/>
          </a:p>
        </p:txBody>
      </p:sp>
      <p:pic>
        <p:nvPicPr>
          <p:cNvPr id="13" name="Image 4" descr="preencoded.png">    </p:cNvPr>
          <p:cNvPicPr>
            <a:picLocks noChangeAspect="1"/>
          </p:cNvPicPr>
          <p:nvPr/>
        </p:nvPicPr>
        <p:blipFill>
          <a:blip r:embed="rId5"/>
          <a:stretch>
            <a:fillRect/>
          </a:stretch>
        </p:blipFill>
        <p:spPr>
          <a:xfrm>
            <a:off x="5032653" y="2104430"/>
            <a:ext cx="4564975" cy="4564975"/>
          </a:xfrm>
          <a:prstGeom prst="rect">
            <a:avLst/>
          </a:prstGeom>
        </p:spPr>
      </p:pic>
      <p:pic>
        <p:nvPicPr>
          <p:cNvPr id="14" name="Image 5" descr="preencoded.png">    </p:cNvPr>
          <p:cNvPicPr>
            <a:picLocks noChangeAspect="1"/>
          </p:cNvPicPr>
          <p:nvPr/>
        </p:nvPicPr>
        <p:blipFill>
          <a:blip r:embed="rId6"/>
          <a:stretch>
            <a:fillRect/>
          </a:stretch>
        </p:blipFill>
        <p:spPr>
          <a:xfrm>
            <a:off x="8064103" y="5481876"/>
            <a:ext cx="339328" cy="424220"/>
          </a:xfrm>
          <a:prstGeom prst="rect">
            <a:avLst/>
          </a:prstGeom>
        </p:spPr>
      </p:pic>
      <p:sp>
        <p:nvSpPr>
          <p:cNvPr id="15" name="Text 7"/>
          <p:cNvSpPr/>
          <p:nvPr/>
        </p:nvSpPr>
        <p:spPr>
          <a:xfrm>
            <a:off x="1857256" y="5095756"/>
            <a:ext cx="2835235" cy="354330"/>
          </a:xfrm>
          <a:prstGeom prst="rect">
            <a:avLst/>
          </a:prstGeom>
          <a:noFill/>
          <a:ln/>
        </p:spPr>
        <p:txBody>
          <a:bodyPr wrap="none" lIns="0" tIns="0" rIns="0" bIns="0" rtlCol="0" anchor="t"/>
          <a:lstStyle/>
          <a:p>
            <a:pPr algn="r" indent="0" marL="0">
              <a:lnSpc>
                <a:spcPts val="2750"/>
              </a:lnSpc>
              <a:buNone/>
            </a:pPr>
            <a:r>
              <a:rPr lang="en-US" sz="2200" dirty="0">
                <a:solidFill>
                  <a:srgbClr val="E5E0DF"/>
                </a:solidFill>
                <a:latin typeface="Roboto Mono Medium" pitchFamily="34" charset="0"/>
                <a:ea typeface="Roboto Mono Medium" pitchFamily="34" charset="-122"/>
                <a:cs typeface="Roboto Mono Medium" pitchFamily="34" charset="-120"/>
              </a:rPr>
              <a:t>성능 향상</a:t>
            </a:r>
            <a:endParaRPr lang="en-US" sz="2200" dirty="0"/>
          </a:p>
        </p:txBody>
      </p:sp>
      <p:sp>
        <p:nvSpPr>
          <p:cNvPr id="16" name="Text 8"/>
          <p:cNvSpPr/>
          <p:nvPr/>
        </p:nvSpPr>
        <p:spPr>
          <a:xfrm>
            <a:off x="793790" y="5586174"/>
            <a:ext cx="3898702" cy="362903"/>
          </a:xfrm>
          <a:prstGeom prst="rect">
            <a:avLst/>
          </a:prstGeom>
          <a:noFill/>
          <a:ln/>
        </p:spPr>
        <p:txBody>
          <a:bodyPr wrap="none" lIns="0" tIns="0" rIns="0" bIns="0" rtlCol="0" anchor="t"/>
          <a:lstStyle/>
          <a:p>
            <a:pPr algn="r" indent="0" marL="0">
              <a:lnSpc>
                <a:spcPts val="2850"/>
              </a:lnSpc>
              <a:buNone/>
            </a:pPr>
            <a:r>
              <a:rPr lang="en-US" sz="1750" dirty="0">
                <a:solidFill>
                  <a:srgbClr val="E5E0DF"/>
                </a:solidFill>
                <a:latin typeface="Roboto" pitchFamily="34" charset="0"/>
                <a:ea typeface="Roboto" pitchFamily="34" charset="-122"/>
                <a:cs typeface="Roboto" pitchFamily="34" charset="-120"/>
              </a:rPr>
              <a:t>Distillation을 통한 데이터 부족 극복</a:t>
            </a:r>
            <a:endParaRPr lang="en-US" sz="1750" dirty="0"/>
          </a:p>
        </p:txBody>
      </p:sp>
      <p:pic>
        <p:nvPicPr>
          <p:cNvPr id="17" name="Image 6" descr="preencoded.png">    </p:cNvPr>
          <p:cNvPicPr>
            <a:picLocks noChangeAspect="1"/>
          </p:cNvPicPr>
          <p:nvPr/>
        </p:nvPicPr>
        <p:blipFill>
          <a:blip r:embed="rId7"/>
          <a:stretch>
            <a:fillRect/>
          </a:stretch>
        </p:blipFill>
        <p:spPr>
          <a:xfrm>
            <a:off x="5032653" y="2104430"/>
            <a:ext cx="4564975" cy="4564975"/>
          </a:xfrm>
          <a:prstGeom prst="rect">
            <a:avLst/>
          </a:prstGeom>
        </p:spPr>
      </p:pic>
      <p:pic>
        <p:nvPicPr>
          <p:cNvPr id="18" name="Image 7" descr="preencoded.png">    </p:cNvPr>
          <p:cNvPicPr>
            <a:picLocks noChangeAspect="1"/>
          </p:cNvPicPr>
          <p:nvPr/>
        </p:nvPicPr>
        <p:blipFill>
          <a:blip r:embed="rId8"/>
          <a:stretch>
            <a:fillRect/>
          </a:stretch>
        </p:blipFill>
        <p:spPr>
          <a:xfrm>
            <a:off x="5838230" y="5093375"/>
            <a:ext cx="339328" cy="424220"/>
          </a:xfrm>
          <a:prstGeom prst="rect">
            <a:avLst/>
          </a:prstGeom>
        </p:spPr>
      </p:pic>
      <p:sp>
        <p:nvSpPr>
          <p:cNvPr id="19" name="Text 9"/>
          <p:cNvSpPr/>
          <p:nvPr/>
        </p:nvSpPr>
        <p:spPr>
          <a:xfrm>
            <a:off x="793790" y="6924556"/>
            <a:ext cx="13042821" cy="362903"/>
          </a:xfrm>
          <a:prstGeom prst="rect">
            <a:avLst/>
          </a:prstGeom>
          <a:noFill/>
          <a:ln/>
        </p:spPr>
        <p:txBody>
          <a:bodyPr wrap="none" lIns="0" tIns="0" rIns="0" bIns="0" rtlCol="0" anchor="t"/>
          <a:lstStyle/>
          <a:p>
            <a:pPr algn="l" indent="0" marL="0">
              <a:lnSpc>
                <a:spcPts val="2850"/>
              </a:lnSpc>
              <a:buNone/>
            </a:pP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2025-06-18T04:16:19Z</dcterms:created>
  <dcterms:modified xsi:type="dcterms:W3CDTF">2025-06-18T04:16:19Z</dcterms:modified>
</cp:coreProperties>
</file>